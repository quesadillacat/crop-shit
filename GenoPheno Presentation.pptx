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8" r:id="rId3"/>
    <p:sldId id="259" r:id="rId4"/>
    <p:sldId id="260" r:id="rId5"/>
    <p:sldId id="261" r:id="rId6"/>
    <p:sldId id="262"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E69A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BF283D-87BD-01DE-77E7-B6D0343933E5}" v="654" dt="2025-12-09T15:12:07.759"/>
    <p1510:client id="{2B26DA05-974F-3509-B822-444E1417AD5D}" v="10" vWet="11" dt="2025-12-09T14:25:17.697"/>
    <p1510:client id="{5B2A9EBF-1590-9E1A-439C-886217AC084F}" v="3" dt="2025-12-09T12:25:19.933"/>
    <p1510:client id="{60066016-CA9B-554C-B44B-6969FBB2E9A7}" v="5" dt="2025-12-09T14:03:11.479"/>
    <p1510:client id="{A136C3C8-1820-410E-8658-2D5F388D2FB9}" v="2666" dt="2025-12-09T15:45:21.2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84567" autoAdjust="0"/>
  </p:normalViewPr>
  <p:slideViewPr>
    <p:cSldViewPr snapToGrid="0">
      <p:cViewPr>
        <p:scale>
          <a:sx n="100" d="100"/>
          <a:sy n="100" d="100"/>
        </p:scale>
        <p:origin x="96"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sa Anjulie Röring" userId="15de357c2d4b6bc6" providerId="LiveId" clId="{B2E93F3B-EF58-4A43-A694-49E45E21EFB4}"/>
    <pc:docChg chg="undo custSel addSld delSld modSld">
      <pc:chgData name="Alisa Anjulie Röring" userId="15de357c2d4b6bc6" providerId="LiveId" clId="{B2E93F3B-EF58-4A43-A694-49E45E21EFB4}" dt="2025-12-09T15:45:21.284" v="4774" actId="47"/>
      <pc:docMkLst>
        <pc:docMk/>
      </pc:docMkLst>
      <pc:sldChg chg="addSp modSp mod modNotesTx">
        <pc:chgData name="Alisa Anjulie Röring" userId="15de357c2d4b6bc6" providerId="LiveId" clId="{B2E93F3B-EF58-4A43-A694-49E45E21EFB4}" dt="2025-12-09T15:44:17.207" v="4748" actId="20577"/>
        <pc:sldMkLst>
          <pc:docMk/>
          <pc:sldMk cId="592737669" sldId="258"/>
        </pc:sldMkLst>
        <pc:spChg chg="mod">
          <ac:chgData name="Alisa Anjulie Röring" userId="15de357c2d4b6bc6" providerId="LiveId" clId="{B2E93F3B-EF58-4A43-A694-49E45E21EFB4}" dt="2025-12-09T15:38:43.599" v="4100" actId="20577"/>
          <ac:spMkLst>
            <pc:docMk/>
            <pc:sldMk cId="592737669" sldId="258"/>
            <ac:spMk id="7" creationId="{439C0E02-E6E3-8B64-9855-BD296089CCD5}"/>
          </ac:spMkLst>
        </pc:spChg>
        <pc:spChg chg="mod">
          <ac:chgData name="Alisa Anjulie Röring" userId="15de357c2d4b6bc6" providerId="LiveId" clId="{B2E93F3B-EF58-4A43-A694-49E45E21EFB4}" dt="2025-12-09T15:42:20.042" v="4225" actId="20577"/>
          <ac:spMkLst>
            <pc:docMk/>
            <pc:sldMk cId="592737669" sldId="258"/>
            <ac:spMk id="8" creationId="{6FF321E2-62C8-4342-E54C-87D96A742E2D}"/>
          </ac:spMkLst>
        </pc:spChg>
        <pc:spChg chg="add mod ord">
          <ac:chgData name="Alisa Anjulie Röring" userId="15de357c2d4b6bc6" providerId="LiveId" clId="{B2E93F3B-EF58-4A43-A694-49E45E21EFB4}" dt="2025-12-09T12:12:19.871" v="1897" actId="167"/>
          <ac:spMkLst>
            <pc:docMk/>
            <pc:sldMk cId="592737669" sldId="258"/>
            <ac:spMk id="9" creationId="{942307B2-D003-4F3E-9190-99C533011A70}"/>
          </ac:spMkLst>
        </pc:spChg>
      </pc:sldChg>
      <pc:sldChg chg="modNotesTx">
        <pc:chgData name="Alisa Anjulie Röring" userId="15de357c2d4b6bc6" providerId="LiveId" clId="{B2E93F3B-EF58-4A43-A694-49E45E21EFB4}" dt="2025-12-09T11:34:54.562" v="220" actId="20577"/>
        <pc:sldMkLst>
          <pc:docMk/>
          <pc:sldMk cId="96029295" sldId="259"/>
        </pc:sldMkLst>
      </pc:sldChg>
      <pc:sldChg chg="addSp delSp modSp new mod modClrScheme chgLayout modNotesTx">
        <pc:chgData name="Alisa Anjulie Röring" userId="15de357c2d4b6bc6" providerId="LiveId" clId="{B2E93F3B-EF58-4A43-A694-49E45E21EFB4}" dt="2025-12-09T11:48:51.057" v="1182" actId="20577"/>
        <pc:sldMkLst>
          <pc:docMk/>
          <pc:sldMk cId="4057976747" sldId="260"/>
        </pc:sldMkLst>
        <pc:spChg chg="mod ord">
          <ac:chgData name="Alisa Anjulie Röring" userId="15de357c2d4b6bc6" providerId="LiveId" clId="{B2E93F3B-EF58-4A43-A694-49E45E21EFB4}" dt="2025-12-09T11:43:39.371" v="700" actId="207"/>
          <ac:spMkLst>
            <pc:docMk/>
            <pc:sldMk cId="4057976747" sldId="260"/>
            <ac:spMk id="2" creationId="{418EC27F-FB70-5889-6134-12EE99FFD405}"/>
          </ac:spMkLst>
        </pc:spChg>
        <pc:spChg chg="del">
          <ac:chgData name="Alisa Anjulie Röring" userId="15de357c2d4b6bc6" providerId="LiveId" clId="{B2E93F3B-EF58-4A43-A694-49E45E21EFB4}" dt="2025-12-09T11:36:46.941" v="281" actId="478"/>
          <ac:spMkLst>
            <pc:docMk/>
            <pc:sldMk cId="4057976747" sldId="260"/>
            <ac:spMk id="3" creationId="{6F62B7F8-B37C-F5AD-4399-234D3946D57E}"/>
          </ac:spMkLst>
        </pc:spChg>
        <pc:spChg chg="del">
          <ac:chgData name="Alisa Anjulie Röring" userId="15de357c2d4b6bc6" providerId="LiveId" clId="{B2E93F3B-EF58-4A43-A694-49E45E21EFB4}" dt="2025-12-09T11:36:48.334" v="282" actId="478"/>
          <ac:spMkLst>
            <pc:docMk/>
            <pc:sldMk cId="4057976747" sldId="260"/>
            <ac:spMk id="4" creationId="{1C7C4C06-EC4E-153C-9DEC-4599DC9B0709}"/>
          </ac:spMkLst>
        </pc:spChg>
        <pc:spChg chg="add mod ord">
          <ac:chgData name="Alisa Anjulie Röring" userId="15de357c2d4b6bc6" providerId="LiveId" clId="{B2E93F3B-EF58-4A43-A694-49E45E21EFB4}" dt="2025-12-09T11:43:05.181" v="694" actId="113"/>
          <ac:spMkLst>
            <pc:docMk/>
            <pc:sldMk cId="4057976747" sldId="260"/>
            <ac:spMk id="5" creationId="{33657402-8E18-8706-9403-719A4EEA2B5A}"/>
          </ac:spMkLst>
        </pc:spChg>
        <pc:spChg chg="add mod ord">
          <ac:chgData name="Alisa Anjulie Röring" userId="15de357c2d4b6bc6" providerId="LiveId" clId="{B2E93F3B-EF58-4A43-A694-49E45E21EFB4}" dt="2025-12-09T11:43:35.680" v="699" actId="167"/>
          <ac:spMkLst>
            <pc:docMk/>
            <pc:sldMk cId="4057976747" sldId="260"/>
            <ac:spMk id="6" creationId="{65FFE964-7C90-F786-EB9C-B81F909B2AAF}"/>
          </ac:spMkLst>
        </pc:spChg>
      </pc:sldChg>
      <pc:sldChg chg="addSp delSp modSp new mod modNotesTx">
        <pc:chgData name="Alisa Anjulie Röring" userId="15de357c2d4b6bc6" providerId="LiveId" clId="{B2E93F3B-EF58-4A43-A694-49E45E21EFB4}" dt="2025-12-09T14:17:30.062" v="4002" actId="20577"/>
        <pc:sldMkLst>
          <pc:docMk/>
          <pc:sldMk cId="2609865748" sldId="261"/>
        </pc:sldMkLst>
        <pc:spChg chg="mod">
          <ac:chgData name="Alisa Anjulie Röring" userId="15de357c2d4b6bc6" providerId="LiveId" clId="{B2E93F3B-EF58-4A43-A694-49E45E21EFB4}" dt="2025-12-09T12:09:38.103" v="1797" actId="20577"/>
          <ac:spMkLst>
            <pc:docMk/>
            <pc:sldMk cId="2609865748" sldId="261"/>
            <ac:spMk id="2" creationId="{41077265-5A19-6995-9017-B50FECD3CD85}"/>
          </ac:spMkLst>
        </pc:spChg>
        <pc:spChg chg="mod">
          <ac:chgData name="Alisa Anjulie Röring" userId="15de357c2d4b6bc6" providerId="LiveId" clId="{B2E93F3B-EF58-4A43-A694-49E45E21EFB4}" dt="2025-12-09T12:26:16.311" v="3100" actId="20577"/>
          <ac:spMkLst>
            <pc:docMk/>
            <pc:sldMk cId="2609865748" sldId="261"/>
            <ac:spMk id="3" creationId="{D1C1A29F-4783-81E2-28DB-6206C7A7B13B}"/>
          </ac:spMkLst>
        </pc:spChg>
        <pc:spChg chg="add del">
          <ac:chgData name="Alisa Anjulie Röring" userId="15de357c2d4b6bc6" providerId="LiveId" clId="{B2E93F3B-EF58-4A43-A694-49E45E21EFB4}" dt="2025-12-09T11:45:41.118" v="943" actId="478"/>
          <ac:spMkLst>
            <pc:docMk/>
            <pc:sldMk cId="2609865748" sldId="261"/>
            <ac:spMk id="4" creationId="{3047BDEB-917D-8619-6FB6-BA16CD4E80C9}"/>
          </ac:spMkLst>
        </pc:spChg>
        <pc:spChg chg="add mod ord">
          <ac:chgData name="Alisa Anjulie Röring" userId="15de357c2d4b6bc6" providerId="LiveId" clId="{B2E93F3B-EF58-4A43-A694-49E45E21EFB4}" dt="2025-12-09T11:45:47.117" v="945" actId="167"/>
          <ac:spMkLst>
            <pc:docMk/>
            <pc:sldMk cId="2609865748" sldId="261"/>
            <ac:spMk id="5" creationId="{3791892C-4B94-7DBB-5400-56FCD2F1A9E9}"/>
          </ac:spMkLst>
        </pc:spChg>
      </pc:sldChg>
      <pc:sldChg chg="addSp delSp modSp new mod modNotesTx">
        <pc:chgData name="Alisa Anjulie Röring" userId="15de357c2d4b6bc6" providerId="LiveId" clId="{B2E93F3B-EF58-4A43-A694-49E45E21EFB4}" dt="2025-12-09T14:13:51.382" v="3795" actId="20577"/>
        <pc:sldMkLst>
          <pc:docMk/>
          <pc:sldMk cId="2361870752" sldId="262"/>
        </pc:sldMkLst>
        <pc:spChg chg="mod">
          <ac:chgData name="Alisa Anjulie Röring" userId="15de357c2d4b6bc6" providerId="LiveId" clId="{B2E93F3B-EF58-4A43-A694-49E45E21EFB4}" dt="2025-12-09T12:12:02.508" v="1895" actId="207"/>
          <ac:spMkLst>
            <pc:docMk/>
            <pc:sldMk cId="2361870752" sldId="262"/>
            <ac:spMk id="2" creationId="{0678E0ED-D05F-19CA-DC7C-F5A1BFA42A31}"/>
          </ac:spMkLst>
        </pc:spChg>
        <pc:spChg chg="del">
          <ac:chgData name="Alisa Anjulie Röring" userId="15de357c2d4b6bc6" providerId="LiveId" clId="{B2E93F3B-EF58-4A43-A694-49E45E21EFB4}" dt="2025-12-09T12:10:25.681" v="1798" actId="931"/>
          <ac:spMkLst>
            <pc:docMk/>
            <pc:sldMk cId="2361870752" sldId="262"/>
            <ac:spMk id="3" creationId="{47B01511-7C23-B12F-F1B6-94BC92391863}"/>
          </ac:spMkLst>
        </pc:spChg>
        <pc:spChg chg="add mod ord">
          <ac:chgData name="Alisa Anjulie Röring" userId="15de357c2d4b6bc6" providerId="LiveId" clId="{B2E93F3B-EF58-4A43-A694-49E45E21EFB4}" dt="2025-12-09T12:11:59.152" v="1894" actId="167"/>
          <ac:spMkLst>
            <pc:docMk/>
            <pc:sldMk cId="2361870752" sldId="262"/>
            <ac:spMk id="6" creationId="{94F6A22E-898A-688B-85E0-A8BFF1741B20}"/>
          </ac:spMkLst>
        </pc:spChg>
        <pc:picChg chg="add mod">
          <ac:chgData name="Alisa Anjulie Röring" userId="15de357c2d4b6bc6" providerId="LiveId" clId="{B2E93F3B-EF58-4A43-A694-49E45E21EFB4}" dt="2025-12-09T12:10:36.581" v="1804" actId="1076"/>
          <ac:picMkLst>
            <pc:docMk/>
            <pc:sldMk cId="2361870752" sldId="262"/>
            <ac:picMk id="5" creationId="{54CD6933-3DA0-D449-E439-ED6793A88C57}"/>
          </ac:picMkLst>
        </pc:picChg>
      </pc:sldChg>
      <pc:sldChg chg="modSp mod">
        <pc:chgData name="Alisa Anjulie Röring" userId="15de357c2d4b6bc6" providerId="LiveId" clId="{B2E93F3B-EF58-4A43-A694-49E45E21EFB4}" dt="2025-12-09T14:26:06.947" v="4081" actId="20577"/>
        <pc:sldMkLst>
          <pc:docMk/>
          <pc:sldMk cId="1706630340" sldId="263"/>
        </pc:sldMkLst>
        <pc:spChg chg="mod">
          <ac:chgData name="Alisa Anjulie Röring" userId="15de357c2d4b6bc6" providerId="LiveId" clId="{B2E93F3B-EF58-4A43-A694-49E45E21EFB4}" dt="2025-12-09T14:26:06.947" v="4081" actId="20577"/>
          <ac:spMkLst>
            <pc:docMk/>
            <pc:sldMk cId="1706630340" sldId="263"/>
            <ac:spMk id="3" creationId="{9FC55BB2-F08F-8877-3B8D-BE4AA3223A5A}"/>
          </ac:spMkLst>
        </pc:spChg>
      </pc:sldChg>
      <pc:sldChg chg="modSp new del mod">
        <pc:chgData name="Alisa Anjulie Röring" userId="15de357c2d4b6bc6" providerId="LiveId" clId="{B2E93F3B-EF58-4A43-A694-49E45E21EFB4}" dt="2025-12-09T15:45:19.856" v="4773" actId="47"/>
        <pc:sldMkLst>
          <pc:docMk/>
          <pc:sldMk cId="1998630137" sldId="265"/>
        </pc:sldMkLst>
        <pc:spChg chg="mod">
          <ac:chgData name="Alisa Anjulie Röring" userId="15de357c2d4b6bc6" providerId="LiveId" clId="{B2E93F3B-EF58-4A43-A694-49E45E21EFB4}" dt="2025-12-09T15:45:02.045" v="4761" actId="20577"/>
          <ac:spMkLst>
            <pc:docMk/>
            <pc:sldMk cId="1998630137" sldId="265"/>
            <ac:spMk id="2" creationId="{7DBCBE4B-C908-C9A4-F3FB-632066CAB56A}"/>
          </ac:spMkLst>
        </pc:spChg>
        <pc:spChg chg="mod">
          <ac:chgData name="Alisa Anjulie Röring" userId="15de357c2d4b6bc6" providerId="LiveId" clId="{B2E93F3B-EF58-4A43-A694-49E45E21EFB4}" dt="2025-12-09T15:45:06.669" v="4771" actId="5793"/>
          <ac:spMkLst>
            <pc:docMk/>
            <pc:sldMk cId="1998630137" sldId="265"/>
            <ac:spMk id="3" creationId="{919EF171-626A-BAE5-A809-A51F4FC47E81}"/>
          </ac:spMkLst>
        </pc:spChg>
      </pc:sldChg>
      <pc:sldChg chg="new del">
        <pc:chgData name="Alisa Anjulie Röring" userId="15de357c2d4b6bc6" providerId="LiveId" clId="{B2E93F3B-EF58-4A43-A694-49E45E21EFB4}" dt="2025-12-09T15:45:21.284" v="4774" actId="47"/>
        <pc:sldMkLst>
          <pc:docMk/>
          <pc:sldMk cId="210887767" sldId="266"/>
        </pc:sldMkLst>
      </pc:sldChg>
    </pc:docChg>
  </pc:docChgLst>
  <pc:docChgLst>
    <pc:chgData name="Guest User" providerId="Windows Live" clId="Web-{2B26DA05-974F-3509-B822-444E1417AD5D}"/>
    <pc:docChg chg="modSld">
      <pc:chgData name="Guest User" userId="" providerId="Windows Live" clId="Web-{2B26DA05-974F-3509-B822-444E1417AD5D}" dt="2025-12-09T14:25:15.493" v="9" actId="20577"/>
      <pc:docMkLst>
        <pc:docMk/>
      </pc:docMkLst>
      <pc:sldChg chg="modSp">
        <pc:chgData name="Guest User" userId="" providerId="Windows Live" clId="Web-{2B26DA05-974F-3509-B822-444E1417AD5D}" dt="2025-12-09T14:25:15.493" v="9" actId="20577"/>
        <pc:sldMkLst>
          <pc:docMk/>
          <pc:sldMk cId="1706630340" sldId="263"/>
        </pc:sldMkLst>
        <pc:spChg chg="mod">
          <ac:chgData name="Guest User" userId="" providerId="Windows Live" clId="Web-{2B26DA05-974F-3509-B822-444E1417AD5D}" dt="2025-12-09T14:25:15.493" v="9" actId="20577"/>
          <ac:spMkLst>
            <pc:docMk/>
            <pc:sldMk cId="1706630340" sldId="263"/>
            <ac:spMk id="2" creationId="{197964D3-8AFC-7564-CC17-63A2050BB622}"/>
          </ac:spMkLst>
        </pc:spChg>
      </pc:sldChg>
    </pc:docChg>
  </pc:docChgLst>
  <pc:docChgLst>
    <pc:chgData name="Sam Johnson" userId="052708afa8590753" providerId="Windows Live" clId="Web-{60066016-CA9B-554C-B44B-6969FBB2E9A7}"/>
    <pc:docChg chg="addSld modSld">
      <pc:chgData name="Sam Johnson" userId="052708afa8590753" providerId="Windows Live" clId="Web-{60066016-CA9B-554C-B44B-6969FBB2E9A7}" dt="2025-12-09T14:03:11.479" v="4" actId="20577"/>
      <pc:docMkLst>
        <pc:docMk/>
      </pc:docMkLst>
      <pc:sldChg chg="modSp">
        <pc:chgData name="Sam Johnson" userId="052708afa8590753" providerId="Windows Live" clId="Web-{60066016-CA9B-554C-B44B-6969FBB2E9A7}" dt="2025-12-09T14:02:55.775" v="2" actId="20577"/>
        <pc:sldMkLst>
          <pc:docMk/>
          <pc:sldMk cId="1706630340" sldId="263"/>
        </pc:sldMkLst>
        <pc:spChg chg="mod">
          <ac:chgData name="Sam Johnson" userId="052708afa8590753" providerId="Windows Live" clId="Web-{60066016-CA9B-554C-B44B-6969FBB2E9A7}" dt="2025-12-09T14:02:44.416" v="1" actId="20577"/>
          <ac:spMkLst>
            <pc:docMk/>
            <pc:sldMk cId="1706630340" sldId="263"/>
            <ac:spMk id="2" creationId="{197964D3-8AFC-7564-CC17-63A2050BB622}"/>
          </ac:spMkLst>
        </pc:spChg>
        <pc:spChg chg="mod">
          <ac:chgData name="Sam Johnson" userId="052708afa8590753" providerId="Windows Live" clId="Web-{60066016-CA9B-554C-B44B-6969FBB2E9A7}" dt="2025-12-09T14:02:55.775" v="2" actId="20577"/>
          <ac:spMkLst>
            <pc:docMk/>
            <pc:sldMk cId="1706630340" sldId="263"/>
            <ac:spMk id="3" creationId="{9FC55BB2-F08F-8877-3B8D-BE4AA3223A5A}"/>
          </ac:spMkLst>
        </pc:spChg>
      </pc:sldChg>
      <pc:sldChg chg="modSp new">
        <pc:chgData name="Sam Johnson" userId="052708afa8590753" providerId="Windows Live" clId="Web-{60066016-CA9B-554C-B44B-6969FBB2E9A7}" dt="2025-12-09T14:03:11.479" v="4" actId="20577"/>
        <pc:sldMkLst>
          <pc:docMk/>
          <pc:sldMk cId="3810278006" sldId="264"/>
        </pc:sldMkLst>
        <pc:spChg chg="mod">
          <ac:chgData name="Sam Johnson" userId="052708afa8590753" providerId="Windows Live" clId="Web-{60066016-CA9B-554C-B44B-6969FBB2E9A7}" dt="2025-12-09T14:03:11.479" v="4" actId="20577"/>
          <ac:spMkLst>
            <pc:docMk/>
            <pc:sldMk cId="3810278006" sldId="264"/>
            <ac:spMk id="2" creationId="{61A212C6-86F6-AD4C-B9FC-85E720E76D6F}"/>
          </ac:spMkLst>
        </pc:spChg>
      </pc:sldChg>
    </pc:docChg>
  </pc:docChgLst>
  <pc:docChgLst>
    <pc:chgData name="Guest User" providerId="Windows Live" clId="Web-{5B2A9EBF-1590-9E1A-439C-886217AC084F}"/>
    <pc:docChg chg="addSld modSld">
      <pc:chgData name="Guest User" userId="" providerId="Windows Live" clId="Web-{5B2A9EBF-1590-9E1A-439C-886217AC084F}" dt="2025-12-09T12:25:19.933" v="2" actId="20577"/>
      <pc:docMkLst>
        <pc:docMk/>
      </pc:docMkLst>
      <pc:sldChg chg="modSp new">
        <pc:chgData name="Guest User" userId="" providerId="Windows Live" clId="Web-{5B2A9EBF-1590-9E1A-439C-886217AC084F}" dt="2025-12-09T12:25:19.933" v="2" actId="20577"/>
        <pc:sldMkLst>
          <pc:docMk/>
          <pc:sldMk cId="1706630340" sldId="263"/>
        </pc:sldMkLst>
        <pc:spChg chg="mod">
          <ac:chgData name="Guest User" userId="" providerId="Windows Live" clId="Web-{5B2A9EBF-1590-9E1A-439C-886217AC084F}" dt="2025-12-09T12:25:19.933" v="2" actId="20577"/>
          <ac:spMkLst>
            <pc:docMk/>
            <pc:sldMk cId="1706630340" sldId="263"/>
            <ac:spMk id="2" creationId="{197964D3-8AFC-7564-CC17-63A2050BB622}"/>
          </ac:spMkLst>
        </pc:spChg>
      </pc:sldChg>
    </pc:docChg>
  </pc:docChgLst>
  <pc:docChgLst>
    <pc:chgData name="Sam Johnson" userId="052708afa8590753" providerId="Windows Live" clId="Web-{09BF283D-87BD-01DE-77E7-B6D0343933E5}"/>
    <pc:docChg chg="addSld delSld modSld">
      <pc:chgData name="Sam Johnson" userId="052708afa8590753" providerId="Windows Live" clId="Web-{09BF283D-87BD-01DE-77E7-B6D0343933E5}" dt="2025-12-09T15:12:07.759" v="647" actId="20577"/>
      <pc:docMkLst>
        <pc:docMk/>
      </pc:docMkLst>
      <pc:sldChg chg="modSp">
        <pc:chgData name="Sam Johnson" userId="052708afa8590753" providerId="Windows Live" clId="Web-{09BF283D-87BD-01DE-77E7-B6D0343933E5}" dt="2025-12-09T14:38:03.377" v="272" actId="20577"/>
        <pc:sldMkLst>
          <pc:docMk/>
          <pc:sldMk cId="1706630340" sldId="263"/>
        </pc:sldMkLst>
        <pc:spChg chg="mod">
          <ac:chgData name="Sam Johnson" userId="052708afa8590753" providerId="Windows Live" clId="Web-{09BF283D-87BD-01DE-77E7-B6D0343933E5}" dt="2025-12-09T14:29:57.843" v="52" actId="20577"/>
          <ac:spMkLst>
            <pc:docMk/>
            <pc:sldMk cId="1706630340" sldId="263"/>
            <ac:spMk id="2" creationId="{197964D3-8AFC-7564-CC17-63A2050BB622}"/>
          </ac:spMkLst>
        </pc:spChg>
        <pc:spChg chg="mod">
          <ac:chgData name="Sam Johnson" userId="052708afa8590753" providerId="Windows Live" clId="Web-{09BF283D-87BD-01DE-77E7-B6D0343933E5}" dt="2025-12-09T14:38:03.377" v="272" actId="20577"/>
          <ac:spMkLst>
            <pc:docMk/>
            <pc:sldMk cId="1706630340" sldId="263"/>
            <ac:spMk id="3" creationId="{9FC55BB2-F08F-8877-3B8D-BE4AA3223A5A}"/>
          </ac:spMkLst>
        </pc:spChg>
      </pc:sldChg>
      <pc:sldChg chg="modSp new">
        <pc:chgData name="Sam Johnson" userId="052708afa8590753" providerId="Windows Live" clId="Web-{09BF283D-87BD-01DE-77E7-B6D0343933E5}" dt="2025-12-09T15:12:07.759" v="647" actId="20577"/>
        <pc:sldMkLst>
          <pc:docMk/>
          <pc:sldMk cId="2394154804" sldId="264"/>
        </pc:sldMkLst>
        <pc:spChg chg="mod">
          <ac:chgData name="Sam Johnson" userId="052708afa8590753" providerId="Windows Live" clId="Web-{09BF283D-87BD-01DE-77E7-B6D0343933E5}" dt="2025-12-09T14:38:14.096" v="286" actId="20577"/>
          <ac:spMkLst>
            <pc:docMk/>
            <pc:sldMk cId="2394154804" sldId="264"/>
            <ac:spMk id="2" creationId="{DE1F969C-1EFA-8423-877D-286CA78AE588}"/>
          </ac:spMkLst>
        </pc:spChg>
        <pc:spChg chg="mod">
          <ac:chgData name="Sam Johnson" userId="052708afa8590753" providerId="Windows Live" clId="Web-{09BF283D-87BD-01DE-77E7-B6D0343933E5}" dt="2025-12-09T15:12:07.759" v="647" actId="20577"/>
          <ac:spMkLst>
            <pc:docMk/>
            <pc:sldMk cId="2394154804" sldId="264"/>
            <ac:spMk id="3" creationId="{A6EB1793-AC5B-3B22-625C-7369DCB60C89}"/>
          </ac:spMkLst>
        </pc:spChg>
      </pc:sldChg>
      <pc:sldChg chg="del">
        <pc:chgData name="Sam Johnson" userId="052708afa8590753" providerId="Windows Live" clId="Web-{09BF283D-87BD-01DE-77E7-B6D0343933E5}" dt="2025-12-09T14:33:33.673" v="53"/>
        <pc:sldMkLst>
          <pc:docMk/>
          <pc:sldMk cId="3810278006" sldId="26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BFB7B3-2DEA-4EEE-A564-379528EF444F}" type="datetimeFigureOut">
              <a:rPr lang="en-GB" smtClean="0"/>
              <a:t>09/12/2025</a:t>
            </a:fld>
            <a:endParaRPr lang="en-GB"/>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7D10B9-D5C9-42E3-BC63-97122FA35AFB}" type="slidenum">
              <a:rPr lang="en-GB" smtClean="0"/>
              <a:t>‹Nr.›</a:t>
            </a:fld>
            <a:endParaRPr lang="en-GB"/>
          </a:p>
        </p:txBody>
      </p:sp>
    </p:spTree>
    <p:extLst>
      <p:ext uri="{BB962C8B-B14F-4D97-AF65-F5344CB8AC3E}">
        <p14:creationId xmlns:p14="http://schemas.microsoft.com/office/powerpoint/2010/main" val="26131964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If</a:t>
            </a:r>
            <a:r>
              <a:rPr lang="de-DE" dirty="0"/>
              <a:t> </a:t>
            </a:r>
            <a:r>
              <a:rPr lang="de-DE" dirty="0" err="1"/>
              <a:t>you</a:t>
            </a:r>
            <a:r>
              <a:rPr lang="de-DE" dirty="0"/>
              <a:t> </a:t>
            </a:r>
            <a:r>
              <a:rPr lang="de-DE" dirty="0" err="1"/>
              <a:t>prefer</a:t>
            </a:r>
            <a:r>
              <a:rPr lang="de-DE" dirty="0"/>
              <a:t> </a:t>
            </a:r>
            <a:r>
              <a:rPr lang="de-DE" dirty="0" err="1"/>
              <a:t>you</a:t>
            </a:r>
            <a:r>
              <a:rPr lang="de-DE" dirty="0"/>
              <a:t> </a:t>
            </a:r>
            <a:r>
              <a:rPr lang="de-DE" dirty="0" err="1"/>
              <a:t>can</a:t>
            </a:r>
            <a:r>
              <a:rPr lang="de-DE" dirty="0"/>
              <a:t> do </a:t>
            </a:r>
            <a:r>
              <a:rPr lang="de-DE" dirty="0" err="1"/>
              <a:t>the</a:t>
            </a:r>
            <a:r>
              <a:rPr lang="de-DE" dirty="0"/>
              <a:t> </a:t>
            </a:r>
            <a:r>
              <a:rPr lang="de-DE" dirty="0" err="1"/>
              <a:t>introduction</a:t>
            </a:r>
            <a:r>
              <a:rPr lang="de-DE" dirty="0"/>
              <a:t> and </a:t>
            </a:r>
            <a:r>
              <a:rPr lang="de-DE" dirty="0" err="1"/>
              <a:t>say</a:t>
            </a:r>
            <a:r>
              <a:rPr lang="de-DE" dirty="0"/>
              <a:t> a </a:t>
            </a:r>
            <a:r>
              <a:rPr lang="de-DE" dirty="0" err="1"/>
              <a:t>bit</a:t>
            </a:r>
            <a:r>
              <a:rPr lang="de-DE" dirty="0"/>
              <a:t> </a:t>
            </a:r>
            <a:r>
              <a:rPr lang="de-DE" dirty="0" err="1"/>
              <a:t>about</a:t>
            </a:r>
            <a:r>
              <a:rPr lang="de-DE" dirty="0"/>
              <a:t> </a:t>
            </a:r>
            <a:r>
              <a:rPr lang="de-DE" dirty="0" err="1"/>
              <a:t>how</a:t>
            </a:r>
            <a:r>
              <a:rPr lang="de-DE" dirty="0"/>
              <a:t> </a:t>
            </a:r>
            <a:r>
              <a:rPr lang="de-DE" dirty="0" err="1"/>
              <a:t>we</a:t>
            </a:r>
            <a:r>
              <a:rPr lang="de-DE" dirty="0"/>
              <a:t> </a:t>
            </a:r>
            <a:r>
              <a:rPr lang="de-DE" dirty="0" err="1"/>
              <a:t>separated</a:t>
            </a:r>
            <a:r>
              <a:rPr lang="de-DE" dirty="0"/>
              <a:t> </a:t>
            </a:r>
            <a:r>
              <a:rPr lang="de-DE" dirty="0" err="1"/>
              <a:t>Pheno</a:t>
            </a:r>
            <a:r>
              <a:rPr lang="de-DE" dirty="0"/>
              <a:t> and Geno and </a:t>
            </a:r>
            <a:r>
              <a:rPr lang="de-DE" dirty="0" err="1"/>
              <a:t>why</a:t>
            </a:r>
            <a:r>
              <a:rPr lang="de-DE" dirty="0"/>
              <a:t> </a:t>
            </a:r>
            <a:r>
              <a:rPr lang="de-DE" dirty="0" err="1"/>
              <a:t>both</a:t>
            </a:r>
            <a:r>
              <a:rPr lang="de-DE" dirty="0"/>
              <a:t> </a:t>
            </a:r>
            <a:r>
              <a:rPr lang="de-DE" dirty="0" err="1"/>
              <a:t>are</a:t>
            </a:r>
            <a:r>
              <a:rPr lang="de-DE" dirty="0"/>
              <a:t> </a:t>
            </a:r>
            <a:r>
              <a:rPr lang="de-DE" dirty="0" err="1"/>
              <a:t>important</a:t>
            </a:r>
            <a:r>
              <a:rPr lang="de-DE" dirty="0"/>
              <a:t>. </a:t>
            </a:r>
          </a:p>
          <a:p>
            <a:r>
              <a:rPr lang="de-DE" dirty="0" err="1"/>
              <a:t>If</a:t>
            </a:r>
            <a:r>
              <a:rPr lang="de-DE" dirty="0"/>
              <a:t> </a:t>
            </a:r>
            <a:r>
              <a:rPr lang="de-DE" dirty="0" err="1"/>
              <a:t>you</a:t>
            </a:r>
            <a:r>
              <a:rPr lang="de-DE" dirty="0"/>
              <a:t> </a:t>
            </a:r>
            <a:r>
              <a:rPr lang="de-DE" dirty="0" err="1"/>
              <a:t>are</a:t>
            </a:r>
            <a:r>
              <a:rPr lang="de-DE" dirty="0"/>
              <a:t> not </a:t>
            </a:r>
            <a:r>
              <a:rPr lang="de-DE" dirty="0" err="1"/>
              <a:t>comfortable</a:t>
            </a:r>
            <a:r>
              <a:rPr lang="de-DE" dirty="0"/>
              <a:t> </a:t>
            </a:r>
            <a:r>
              <a:rPr lang="de-DE" dirty="0" err="1"/>
              <a:t>doing</a:t>
            </a:r>
            <a:r>
              <a:rPr lang="de-DE" dirty="0"/>
              <a:t> </a:t>
            </a:r>
            <a:r>
              <a:rPr lang="de-DE" dirty="0" err="1"/>
              <a:t>the</a:t>
            </a:r>
            <a:r>
              <a:rPr lang="de-DE" dirty="0"/>
              <a:t> </a:t>
            </a:r>
            <a:r>
              <a:rPr lang="de-DE" dirty="0" err="1"/>
              <a:t>introduction</a:t>
            </a:r>
            <a:r>
              <a:rPr lang="de-DE" dirty="0"/>
              <a:t> i </a:t>
            </a:r>
            <a:r>
              <a:rPr lang="de-DE" dirty="0" err="1"/>
              <a:t>can</a:t>
            </a:r>
            <a:r>
              <a:rPr lang="de-DE" dirty="0"/>
              <a:t> do </a:t>
            </a:r>
            <a:r>
              <a:rPr lang="de-DE" dirty="0" err="1"/>
              <a:t>it</a:t>
            </a:r>
            <a:r>
              <a:rPr lang="de-DE" dirty="0"/>
              <a:t> </a:t>
            </a:r>
            <a:r>
              <a:rPr lang="de-DE" dirty="0" err="1"/>
              <a:t>too</a:t>
            </a:r>
            <a:r>
              <a:rPr lang="de-DE" dirty="0"/>
              <a:t> so </a:t>
            </a:r>
            <a:r>
              <a:rPr lang="de-DE" dirty="0" err="1"/>
              <a:t>dont</a:t>
            </a:r>
            <a:r>
              <a:rPr lang="de-DE" dirty="0"/>
              <a:t> </a:t>
            </a:r>
            <a:r>
              <a:rPr lang="de-DE" dirty="0" err="1"/>
              <a:t>worry</a:t>
            </a:r>
            <a:r>
              <a:rPr lang="de-DE" dirty="0"/>
              <a:t> </a:t>
            </a:r>
            <a:r>
              <a:rPr lang="de-DE" dirty="0" err="1"/>
              <a:t>about</a:t>
            </a:r>
            <a:r>
              <a:rPr lang="de-DE" dirty="0"/>
              <a:t> </a:t>
            </a:r>
            <a:r>
              <a:rPr lang="de-DE" dirty="0" err="1"/>
              <a:t>it</a:t>
            </a:r>
            <a:r>
              <a:rPr lang="de-DE" dirty="0"/>
              <a:t> &lt;3</a:t>
            </a:r>
            <a:br>
              <a:rPr lang="de-DE" dirty="0"/>
            </a:br>
            <a:br>
              <a:rPr lang="de-DE" dirty="0"/>
            </a:br>
            <a:r>
              <a:rPr lang="de-DE" dirty="0"/>
              <a:t>The </a:t>
            </a:r>
            <a:r>
              <a:rPr lang="de-DE" dirty="0" err="1"/>
              <a:t>goal</a:t>
            </a:r>
            <a:r>
              <a:rPr lang="de-DE" dirty="0"/>
              <a:t> </a:t>
            </a:r>
            <a:r>
              <a:rPr lang="de-DE" dirty="0" err="1"/>
              <a:t>of</a:t>
            </a:r>
            <a:r>
              <a:rPr lang="de-DE" dirty="0"/>
              <a:t> </a:t>
            </a:r>
            <a:r>
              <a:rPr lang="de-DE" dirty="0" err="1"/>
              <a:t>this</a:t>
            </a:r>
            <a:r>
              <a:rPr lang="de-DE" dirty="0"/>
              <a:t> </a:t>
            </a:r>
            <a:r>
              <a:rPr lang="de-DE" dirty="0" err="1"/>
              <a:t>project</a:t>
            </a:r>
            <a:r>
              <a:rPr lang="de-DE" dirty="0"/>
              <a:t> was </a:t>
            </a:r>
            <a:r>
              <a:rPr lang="de-DE" dirty="0" err="1"/>
              <a:t>to</a:t>
            </a:r>
            <a:r>
              <a:rPr lang="de-DE" dirty="0"/>
              <a:t> </a:t>
            </a:r>
            <a:r>
              <a:rPr lang="de-DE" dirty="0" err="1"/>
              <a:t>select</a:t>
            </a:r>
            <a:r>
              <a:rPr lang="de-DE" dirty="0"/>
              <a:t> </a:t>
            </a:r>
            <a:r>
              <a:rPr lang="de-DE" dirty="0" err="1"/>
              <a:t>three</a:t>
            </a:r>
            <a:r>
              <a:rPr lang="de-DE" dirty="0"/>
              <a:t> </a:t>
            </a:r>
            <a:r>
              <a:rPr lang="de-DE" dirty="0" err="1"/>
              <a:t>accessions</a:t>
            </a:r>
            <a:r>
              <a:rPr lang="de-DE" dirty="0"/>
              <a:t> </a:t>
            </a:r>
            <a:r>
              <a:rPr lang="de-DE" dirty="0" err="1"/>
              <a:t>that</a:t>
            </a:r>
            <a:r>
              <a:rPr lang="de-DE" dirty="0"/>
              <a:t> </a:t>
            </a:r>
            <a:r>
              <a:rPr lang="de-DE" dirty="0" err="1"/>
              <a:t>would</a:t>
            </a:r>
            <a:r>
              <a:rPr lang="de-DE" dirty="0"/>
              <a:t> </a:t>
            </a:r>
            <a:r>
              <a:rPr lang="de-DE" dirty="0" err="1"/>
              <a:t>be</a:t>
            </a:r>
            <a:r>
              <a:rPr lang="de-DE" dirty="0"/>
              <a:t> </a:t>
            </a:r>
            <a:r>
              <a:rPr lang="de-DE" dirty="0" err="1"/>
              <a:t>suitable</a:t>
            </a:r>
            <a:r>
              <a:rPr lang="de-DE" dirty="0"/>
              <a:t> </a:t>
            </a:r>
            <a:r>
              <a:rPr lang="de-DE" dirty="0" err="1"/>
              <a:t>donors</a:t>
            </a:r>
            <a:r>
              <a:rPr lang="de-DE" dirty="0"/>
              <a:t> </a:t>
            </a:r>
            <a:r>
              <a:rPr lang="de-DE" dirty="0" err="1"/>
              <a:t>for</a:t>
            </a:r>
            <a:r>
              <a:rPr lang="de-DE" dirty="0"/>
              <a:t> a </a:t>
            </a:r>
            <a:r>
              <a:rPr lang="de-DE" dirty="0" err="1"/>
              <a:t>future</a:t>
            </a:r>
            <a:r>
              <a:rPr lang="de-DE" dirty="0"/>
              <a:t> </a:t>
            </a:r>
            <a:r>
              <a:rPr lang="de-DE" dirty="0" err="1"/>
              <a:t>winter</a:t>
            </a:r>
            <a:r>
              <a:rPr lang="de-DE" dirty="0"/>
              <a:t> </a:t>
            </a:r>
            <a:r>
              <a:rPr lang="de-DE" dirty="0" err="1"/>
              <a:t>oilseed</a:t>
            </a:r>
            <a:r>
              <a:rPr lang="de-DE" dirty="0"/>
              <a:t> </a:t>
            </a:r>
            <a:r>
              <a:rPr lang="de-DE" dirty="0" err="1"/>
              <a:t>rape</a:t>
            </a:r>
            <a:r>
              <a:rPr lang="de-DE" dirty="0"/>
              <a:t> </a:t>
            </a:r>
            <a:r>
              <a:rPr lang="de-DE" dirty="0" err="1"/>
              <a:t>breeding</a:t>
            </a:r>
            <a:r>
              <a:rPr lang="de-DE" dirty="0"/>
              <a:t> </a:t>
            </a:r>
            <a:r>
              <a:rPr lang="de-DE" dirty="0" err="1"/>
              <a:t>program</a:t>
            </a:r>
            <a:endParaRPr lang="de-DE" dirty="0"/>
          </a:p>
          <a:p>
            <a:r>
              <a:rPr lang="de-DE" dirty="0" err="1"/>
              <a:t>To</a:t>
            </a:r>
            <a:r>
              <a:rPr lang="de-DE" dirty="0"/>
              <a:t> do </a:t>
            </a:r>
            <a:r>
              <a:rPr lang="de-DE" dirty="0" err="1"/>
              <a:t>that</a:t>
            </a:r>
            <a:r>
              <a:rPr lang="de-DE" dirty="0"/>
              <a:t>, </a:t>
            </a:r>
            <a:r>
              <a:rPr lang="de-DE" dirty="0" err="1"/>
              <a:t>the</a:t>
            </a:r>
            <a:r>
              <a:rPr lang="de-DE" dirty="0"/>
              <a:t> </a:t>
            </a:r>
            <a:r>
              <a:rPr lang="de-DE" dirty="0" err="1"/>
              <a:t>accessions</a:t>
            </a:r>
            <a:r>
              <a:rPr lang="de-DE" dirty="0"/>
              <a:t> </a:t>
            </a:r>
            <a:r>
              <a:rPr lang="de-DE" dirty="0" err="1"/>
              <a:t>were</a:t>
            </a:r>
            <a:r>
              <a:rPr lang="de-DE" dirty="0"/>
              <a:t> </a:t>
            </a:r>
            <a:r>
              <a:rPr lang="de-DE" dirty="0" err="1"/>
              <a:t>evaluatated</a:t>
            </a:r>
            <a:r>
              <a:rPr lang="de-DE" dirty="0"/>
              <a:t> in 2 </a:t>
            </a:r>
            <a:r>
              <a:rPr lang="de-DE" dirty="0" err="1"/>
              <a:t>complementary</a:t>
            </a:r>
            <a:r>
              <a:rPr lang="de-DE" dirty="0"/>
              <a:t> </a:t>
            </a:r>
            <a:r>
              <a:rPr lang="de-DE" dirty="0" err="1"/>
              <a:t>ways</a:t>
            </a:r>
            <a:r>
              <a:rPr lang="de-DE" dirty="0"/>
              <a:t>.</a:t>
            </a:r>
          </a:p>
          <a:p>
            <a:r>
              <a:rPr lang="de-DE" dirty="0"/>
              <a:t>On </a:t>
            </a:r>
            <a:r>
              <a:rPr lang="de-DE" dirty="0" err="1"/>
              <a:t>one</a:t>
            </a:r>
            <a:r>
              <a:rPr lang="de-DE" dirty="0"/>
              <a:t> </a:t>
            </a:r>
            <a:r>
              <a:rPr lang="de-DE" dirty="0" err="1"/>
              <a:t>hand</a:t>
            </a:r>
            <a:r>
              <a:rPr lang="de-DE" dirty="0"/>
              <a:t>, </a:t>
            </a:r>
            <a:r>
              <a:rPr lang="de-DE" dirty="0" err="1"/>
              <a:t>we</a:t>
            </a:r>
            <a:r>
              <a:rPr lang="de-DE" dirty="0"/>
              <a:t> </a:t>
            </a:r>
            <a:r>
              <a:rPr lang="de-DE" dirty="0" err="1"/>
              <a:t>looked</a:t>
            </a:r>
            <a:r>
              <a:rPr lang="de-DE" dirty="0"/>
              <a:t> at </a:t>
            </a:r>
            <a:r>
              <a:rPr lang="de-DE" dirty="0" err="1"/>
              <a:t>adaptability</a:t>
            </a:r>
            <a:r>
              <a:rPr lang="de-DE" dirty="0"/>
              <a:t>, </a:t>
            </a:r>
            <a:r>
              <a:rPr lang="de-DE" dirty="0" err="1"/>
              <a:t>meaning</a:t>
            </a:r>
            <a:r>
              <a:rPr lang="de-DE" dirty="0"/>
              <a:t> </a:t>
            </a:r>
            <a:r>
              <a:rPr lang="de-DE" dirty="0" err="1"/>
              <a:t>their</a:t>
            </a:r>
            <a:r>
              <a:rPr lang="de-DE" dirty="0"/>
              <a:t> </a:t>
            </a:r>
            <a:r>
              <a:rPr lang="de-DE" dirty="0" err="1"/>
              <a:t>overall</a:t>
            </a:r>
            <a:r>
              <a:rPr lang="de-DE" dirty="0"/>
              <a:t> </a:t>
            </a:r>
            <a:r>
              <a:rPr lang="de-DE" dirty="0" err="1"/>
              <a:t>phenotypic</a:t>
            </a:r>
            <a:r>
              <a:rPr lang="de-DE" dirty="0"/>
              <a:t> </a:t>
            </a:r>
            <a:r>
              <a:rPr lang="de-DE" dirty="0" err="1"/>
              <a:t>performance</a:t>
            </a:r>
            <a:r>
              <a:rPr lang="de-DE" dirty="0"/>
              <a:t> </a:t>
            </a:r>
            <a:r>
              <a:rPr lang="de-DE" dirty="0" err="1"/>
              <a:t>across</a:t>
            </a:r>
            <a:r>
              <a:rPr lang="de-DE" dirty="0"/>
              <a:t> multiple </a:t>
            </a:r>
            <a:r>
              <a:rPr lang="de-DE" dirty="0" err="1"/>
              <a:t>traits</a:t>
            </a:r>
            <a:endParaRPr lang="en-GB" dirty="0"/>
          </a:p>
          <a:p>
            <a:endParaRPr lang="en-GB" dirty="0"/>
          </a:p>
          <a:p>
            <a:r>
              <a:rPr lang="en-GB" dirty="0"/>
              <a:t>Second, we looked at  genetic diversity using SNP data which tells us how genetically different the accessions are from each other </a:t>
            </a:r>
            <a:endParaRPr lang="de-DE" dirty="0"/>
          </a:p>
        </p:txBody>
      </p:sp>
      <p:sp>
        <p:nvSpPr>
          <p:cNvPr id="4" name="Foliennummernplatzhalter 3"/>
          <p:cNvSpPr>
            <a:spLocks noGrp="1"/>
          </p:cNvSpPr>
          <p:nvPr>
            <p:ph type="sldNum" sz="quarter" idx="5"/>
          </p:nvPr>
        </p:nvSpPr>
        <p:spPr/>
        <p:txBody>
          <a:bodyPr/>
          <a:lstStyle/>
          <a:p>
            <a:fld id="{077D10B9-D5C9-42E3-BC63-97122FA35AFB}" type="slidenum">
              <a:rPr lang="en-GB" smtClean="0"/>
              <a:t>2</a:t>
            </a:fld>
            <a:endParaRPr lang="en-GB"/>
          </a:p>
        </p:txBody>
      </p:sp>
    </p:spTree>
    <p:extLst>
      <p:ext uri="{BB962C8B-B14F-4D97-AF65-F5344CB8AC3E}">
        <p14:creationId xmlns:p14="http://schemas.microsoft.com/office/powerpoint/2010/main" val="20340612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There</a:t>
            </a:r>
            <a:r>
              <a:rPr lang="de-DE" dirty="0"/>
              <a:t> </a:t>
            </a:r>
            <a:r>
              <a:rPr lang="de-DE" dirty="0" err="1"/>
              <a:t>are</a:t>
            </a:r>
            <a:r>
              <a:rPr lang="de-DE" dirty="0"/>
              <a:t> a </a:t>
            </a:r>
            <a:r>
              <a:rPr lang="de-DE" dirty="0" err="1"/>
              <a:t>few</a:t>
            </a:r>
            <a:r>
              <a:rPr lang="de-DE" dirty="0"/>
              <a:t> </a:t>
            </a:r>
            <a:r>
              <a:rPr lang="de-DE" dirty="0" err="1"/>
              <a:t>things</a:t>
            </a:r>
            <a:r>
              <a:rPr lang="de-DE" dirty="0"/>
              <a:t> </a:t>
            </a:r>
            <a:r>
              <a:rPr lang="de-DE" dirty="0" err="1"/>
              <a:t>I‘d</a:t>
            </a:r>
            <a:r>
              <a:rPr lang="de-DE" dirty="0"/>
              <a:t> like </a:t>
            </a:r>
            <a:r>
              <a:rPr lang="de-DE" dirty="0" err="1"/>
              <a:t>to</a:t>
            </a:r>
            <a:r>
              <a:rPr lang="de-DE" dirty="0"/>
              <a:t> </a:t>
            </a:r>
            <a:r>
              <a:rPr lang="de-DE" dirty="0" err="1"/>
              <a:t>address</a:t>
            </a:r>
            <a:r>
              <a:rPr lang="de-DE" dirty="0"/>
              <a:t> </a:t>
            </a:r>
            <a:r>
              <a:rPr lang="de-DE" dirty="0" err="1"/>
              <a:t>regarding</a:t>
            </a:r>
            <a:r>
              <a:rPr lang="de-DE" dirty="0"/>
              <a:t> </a:t>
            </a:r>
            <a:r>
              <a:rPr lang="de-DE" dirty="0" err="1"/>
              <a:t>the</a:t>
            </a:r>
            <a:r>
              <a:rPr lang="de-DE" dirty="0"/>
              <a:t> </a:t>
            </a:r>
            <a:r>
              <a:rPr lang="de-DE" dirty="0" err="1"/>
              <a:t>phenotypical</a:t>
            </a:r>
            <a:r>
              <a:rPr lang="de-DE" dirty="0"/>
              <a:t> </a:t>
            </a:r>
            <a:r>
              <a:rPr lang="de-DE" dirty="0" err="1"/>
              <a:t>traits</a:t>
            </a:r>
            <a:r>
              <a:rPr lang="de-DE" dirty="0"/>
              <a:t> </a:t>
            </a:r>
            <a:r>
              <a:rPr lang="de-DE" dirty="0" err="1"/>
              <a:t>we</a:t>
            </a:r>
            <a:r>
              <a:rPr lang="de-DE" dirty="0"/>
              <a:t> </a:t>
            </a:r>
            <a:r>
              <a:rPr lang="de-DE" dirty="0" err="1"/>
              <a:t>measured</a:t>
            </a:r>
            <a:r>
              <a:rPr lang="de-DE" dirty="0"/>
              <a:t>:</a:t>
            </a:r>
          </a:p>
          <a:p>
            <a:r>
              <a:rPr lang="de-DE" dirty="0" err="1"/>
              <a:t>We</a:t>
            </a:r>
            <a:r>
              <a:rPr lang="de-DE" dirty="0"/>
              <a:t> ran a linear </a:t>
            </a:r>
            <a:r>
              <a:rPr lang="de-DE" dirty="0" err="1"/>
              <a:t>mixed</a:t>
            </a:r>
            <a:r>
              <a:rPr lang="de-DE" dirty="0"/>
              <a:t> </a:t>
            </a:r>
            <a:r>
              <a:rPr lang="de-DE" dirty="0" err="1"/>
              <a:t>model</a:t>
            </a:r>
            <a:r>
              <a:rPr lang="de-DE" dirty="0"/>
              <a:t> </a:t>
            </a:r>
            <a:r>
              <a:rPr lang="de-DE" dirty="0" err="1"/>
              <a:t>to</a:t>
            </a:r>
            <a:r>
              <a:rPr lang="de-DE" dirty="0"/>
              <a:t> </a:t>
            </a:r>
            <a:r>
              <a:rPr lang="de-DE" dirty="0" err="1"/>
              <a:t>test</a:t>
            </a:r>
            <a:r>
              <a:rPr lang="de-DE" dirty="0"/>
              <a:t> </a:t>
            </a:r>
            <a:r>
              <a:rPr lang="de-DE" dirty="0" err="1"/>
              <a:t>whether</a:t>
            </a:r>
            <a:r>
              <a:rPr lang="de-DE" dirty="0"/>
              <a:t> </a:t>
            </a:r>
            <a:r>
              <a:rPr lang="de-DE" dirty="0" err="1"/>
              <a:t>genotypes</a:t>
            </a:r>
            <a:r>
              <a:rPr lang="de-DE" dirty="0"/>
              <a:t> </a:t>
            </a:r>
            <a:r>
              <a:rPr lang="de-DE" dirty="0" err="1"/>
              <a:t>have</a:t>
            </a:r>
            <a:r>
              <a:rPr lang="de-DE" dirty="0"/>
              <a:t> a </a:t>
            </a:r>
            <a:r>
              <a:rPr lang="de-DE" dirty="0" err="1"/>
              <a:t>significant</a:t>
            </a:r>
            <a:r>
              <a:rPr lang="de-DE" dirty="0"/>
              <a:t> </a:t>
            </a:r>
            <a:r>
              <a:rPr lang="de-DE" dirty="0" err="1"/>
              <a:t>effect</a:t>
            </a:r>
            <a:r>
              <a:rPr lang="de-DE" dirty="0"/>
              <a:t> on </a:t>
            </a:r>
            <a:r>
              <a:rPr lang="de-DE" dirty="0" err="1"/>
              <a:t>each</a:t>
            </a:r>
            <a:r>
              <a:rPr lang="de-DE" dirty="0"/>
              <a:t> </a:t>
            </a:r>
            <a:r>
              <a:rPr lang="de-DE" dirty="0" err="1"/>
              <a:t>trait</a:t>
            </a:r>
            <a:endParaRPr lang="de-DE" dirty="0"/>
          </a:p>
          <a:p>
            <a:r>
              <a:rPr lang="de-DE" dirty="0"/>
              <a:t>This was </a:t>
            </a:r>
            <a:r>
              <a:rPr lang="de-DE" dirty="0" err="1"/>
              <a:t>the</a:t>
            </a:r>
            <a:r>
              <a:rPr lang="de-DE" dirty="0"/>
              <a:t> </a:t>
            </a:r>
            <a:r>
              <a:rPr lang="de-DE" dirty="0" err="1"/>
              <a:t>case</a:t>
            </a:r>
            <a:r>
              <a:rPr lang="de-DE" dirty="0"/>
              <a:t> </a:t>
            </a:r>
            <a:r>
              <a:rPr lang="de-DE" dirty="0" err="1"/>
              <a:t>for</a:t>
            </a:r>
            <a:r>
              <a:rPr lang="de-DE" dirty="0"/>
              <a:t> all </a:t>
            </a:r>
            <a:r>
              <a:rPr lang="de-DE" dirty="0" err="1"/>
              <a:t>traits</a:t>
            </a:r>
            <a:r>
              <a:rPr lang="de-DE" dirty="0"/>
              <a:t> </a:t>
            </a:r>
            <a:r>
              <a:rPr lang="de-DE" dirty="0" err="1"/>
              <a:t>except</a:t>
            </a:r>
            <a:r>
              <a:rPr lang="de-DE" dirty="0"/>
              <a:t> </a:t>
            </a:r>
            <a:r>
              <a:rPr lang="de-DE" dirty="0" err="1"/>
              <a:t>flowering</a:t>
            </a:r>
            <a:r>
              <a:rPr lang="de-DE" dirty="0"/>
              <a:t> time, </a:t>
            </a:r>
            <a:r>
              <a:rPr lang="de-DE" dirty="0" err="1"/>
              <a:t>where</a:t>
            </a:r>
            <a:r>
              <a:rPr lang="de-DE" dirty="0"/>
              <a:t> in </a:t>
            </a:r>
            <a:r>
              <a:rPr lang="de-DE" dirty="0" err="1"/>
              <a:t>only</a:t>
            </a:r>
            <a:r>
              <a:rPr lang="de-DE" dirty="0"/>
              <a:t> 2 </a:t>
            </a:r>
            <a:r>
              <a:rPr lang="de-DE" dirty="0" err="1"/>
              <a:t>cases</a:t>
            </a:r>
            <a:r>
              <a:rPr lang="de-DE" dirty="0"/>
              <a:t> </a:t>
            </a:r>
            <a:r>
              <a:rPr lang="de-DE" dirty="0" err="1"/>
              <a:t>the</a:t>
            </a:r>
            <a:r>
              <a:rPr lang="de-DE" dirty="0"/>
              <a:t> </a:t>
            </a:r>
            <a:r>
              <a:rPr lang="de-DE" dirty="0" err="1"/>
              <a:t>genotype</a:t>
            </a:r>
            <a:r>
              <a:rPr lang="de-DE" dirty="0"/>
              <a:t> </a:t>
            </a:r>
            <a:r>
              <a:rPr lang="de-DE" dirty="0" err="1"/>
              <a:t>had</a:t>
            </a:r>
            <a:r>
              <a:rPr lang="de-DE" dirty="0"/>
              <a:t> a </a:t>
            </a:r>
            <a:r>
              <a:rPr lang="de-DE" dirty="0" err="1"/>
              <a:t>significant</a:t>
            </a:r>
            <a:r>
              <a:rPr lang="de-DE" dirty="0"/>
              <a:t> </a:t>
            </a:r>
            <a:r>
              <a:rPr lang="de-DE" dirty="0" err="1"/>
              <a:t>effect</a:t>
            </a:r>
            <a:r>
              <a:rPr lang="de-DE" dirty="0"/>
              <a:t> but </a:t>
            </a:r>
            <a:r>
              <a:rPr lang="de-DE" dirty="0" err="1"/>
              <a:t>those</a:t>
            </a:r>
            <a:r>
              <a:rPr lang="de-DE" dirty="0"/>
              <a:t> </a:t>
            </a:r>
            <a:r>
              <a:rPr lang="de-DE" dirty="0" err="1"/>
              <a:t>were</a:t>
            </a:r>
            <a:r>
              <a:rPr lang="de-DE" dirty="0"/>
              <a:t> </a:t>
            </a:r>
            <a:r>
              <a:rPr lang="de-DE" dirty="0" err="1"/>
              <a:t>accessions</a:t>
            </a:r>
            <a:r>
              <a:rPr lang="de-DE" dirty="0"/>
              <a:t> </a:t>
            </a:r>
            <a:r>
              <a:rPr lang="de-DE" dirty="0" err="1"/>
              <a:t>that</a:t>
            </a:r>
            <a:r>
              <a:rPr lang="de-DE" dirty="0"/>
              <a:t> </a:t>
            </a:r>
            <a:r>
              <a:rPr lang="de-DE" dirty="0" err="1"/>
              <a:t>aren‘t</a:t>
            </a:r>
            <a:r>
              <a:rPr lang="de-DE" dirty="0"/>
              <a:t> </a:t>
            </a:r>
            <a:r>
              <a:rPr lang="de-DE" dirty="0" err="1"/>
              <a:t>of</a:t>
            </a:r>
            <a:r>
              <a:rPr lang="de-DE" dirty="0"/>
              <a:t> </a:t>
            </a:r>
            <a:r>
              <a:rPr lang="de-DE" dirty="0" err="1"/>
              <a:t>interested</a:t>
            </a:r>
            <a:r>
              <a:rPr lang="de-DE" dirty="0"/>
              <a:t> </a:t>
            </a:r>
            <a:r>
              <a:rPr lang="de-DE" dirty="0" err="1"/>
              <a:t>to</a:t>
            </a:r>
            <a:r>
              <a:rPr lang="de-DE" dirty="0"/>
              <a:t> </a:t>
            </a:r>
            <a:r>
              <a:rPr lang="de-DE" dirty="0" err="1"/>
              <a:t>us</a:t>
            </a:r>
            <a:r>
              <a:rPr lang="de-DE" dirty="0"/>
              <a:t> so </a:t>
            </a:r>
            <a:r>
              <a:rPr lang="de-DE" dirty="0" err="1"/>
              <a:t>we</a:t>
            </a:r>
            <a:r>
              <a:rPr lang="de-DE" dirty="0"/>
              <a:t> </a:t>
            </a:r>
            <a:r>
              <a:rPr lang="de-DE" dirty="0" err="1"/>
              <a:t>left</a:t>
            </a:r>
            <a:r>
              <a:rPr lang="de-DE" dirty="0"/>
              <a:t> </a:t>
            </a:r>
            <a:r>
              <a:rPr lang="de-DE" dirty="0" err="1"/>
              <a:t>it</a:t>
            </a:r>
            <a:r>
              <a:rPr lang="de-DE" dirty="0"/>
              <a:t> out</a:t>
            </a:r>
          </a:p>
          <a:p>
            <a:r>
              <a:rPr lang="de-DE" dirty="0" err="1"/>
              <a:t>For</a:t>
            </a:r>
            <a:r>
              <a:rPr lang="de-DE" dirty="0"/>
              <a:t> </a:t>
            </a:r>
            <a:r>
              <a:rPr lang="de-DE" dirty="0" err="1"/>
              <a:t>seed</a:t>
            </a:r>
            <a:r>
              <a:rPr lang="de-DE" dirty="0"/>
              <a:t> </a:t>
            </a:r>
            <a:r>
              <a:rPr lang="de-DE" dirty="0" err="1"/>
              <a:t>quality</a:t>
            </a:r>
            <a:r>
              <a:rPr lang="de-DE" dirty="0"/>
              <a:t> </a:t>
            </a:r>
            <a:r>
              <a:rPr lang="de-DE" dirty="0" err="1"/>
              <a:t>we</a:t>
            </a:r>
            <a:r>
              <a:rPr lang="de-DE" dirty="0"/>
              <a:t> z-</a:t>
            </a:r>
            <a:r>
              <a:rPr lang="de-DE" dirty="0" err="1"/>
              <a:t>standardized</a:t>
            </a:r>
            <a:r>
              <a:rPr lang="de-DE" dirty="0"/>
              <a:t> </a:t>
            </a:r>
            <a:r>
              <a:rPr lang="de-DE" dirty="0" err="1"/>
              <a:t>the</a:t>
            </a:r>
            <a:r>
              <a:rPr lang="de-DE" dirty="0"/>
              <a:t> </a:t>
            </a:r>
            <a:r>
              <a:rPr lang="de-DE" dirty="0" err="1"/>
              <a:t>traits</a:t>
            </a:r>
            <a:r>
              <a:rPr lang="de-DE" dirty="0"/>
              <a:t> </a:t>
            </a:r>
            <a:r>
              <a:rPr lang="de-DE" dirty="0" err="1"/>
              <a:t>to</a:t>
            </a:r>
            <a:r>
              <a:rPr lang="de-DE" dirty="0"/>
              <a:t> </a:t>
            </a:r>
            <a:r>
              <a:rPr lang="de-DE" dirty="0" err="1"/>
              <a:t>make</a:t>
            </a:r>
            <a:r>
              <a:rPr lang="de-DE" dirty="0"/>
              <a:t> </a:t>
            </a:r>
            <a:r>
              <a:rPr lang="de-DE" dirty="0" err="1"/>
              <a:t>them</a:t>
            </a:r>
            <a:r>
              <a:rPr lang="de-DE" dirty="0"/>
              <a:t> </a:t>
            </a:r>
            <a:r>
              <a:rPr lang="de-DE" dirty="0" err="1"/>
              <a:t>comparable</a:t>
            </a:r>
            <a:r>
              <a:rPr lang="de-DE" dirty="0"/>
              <a:t>, </a:t>
            </a:r>
            <a:r>
              <a:rPr lang="de-DE" dirty="0" err="1"/>
              <a:t>assigned</a:t>
            </a:r>
            <a:r>
              <a:rPr lang="de-DE" dirty="0"/>
              <a:t> </a:t>
            </a:r>
            <a:r>
              <a:rPr lang="de-DE" dirty="0" err="1"/>
              <a:t>good</a:t>
            </a:r>
            <a:r>
              <a:rPr lang="de-DE" dirty="0"/>
              <a:t> </a:t>
            </a:r>
            <a:r>
              <a:rPr lang="de-DE" dirty="0" err="1"/>
              <a:t>traits</a:t>
            </a:r>
            <a:r>
              <a:rPr lang="de-DE" dirty="0"/>
              <a:t> and </a:t>
            </a:r>
            <a:r>
              <a:rPr lang="de-DE" dirty="0" err="1"/>
              <a:t>bad</a:t>
            </a:r>
            <a:r>
              <a:rPr lang="de-DE" dirty="0"/>
              <a:t> </a:t>
            </a:r>
            <a:r>
              <a:rPr lang="de-DE" dirty="0" err="1"/>
              <a:t>traits</a:t>
            </a:r>
            <a:r>
              <a:rPr lang="de-DE" dirty="0"/>
              <a:t> and </a:t>
            </a:r>
            <a:r>
              <a:rPr lang="de-DE" dirty="0" err="1"/>
              <a:t>calculated</a:t>
            </a:r>
            <a:r>
              <a:rPr lang="de-DE" dirty="0"/>
              <a:t> a </a:t>
            </a:r>
            <a:r>
              <a:rPr lang="de-DE" dirty="0" err="1"/>
              <a:t>seed</a:t>
            </a:r>
            <a:r>
              <a:rPr lang="de-DE" dirty="0"/>
              <a:t> </a:t>
            </a:r>
            <a:r>
              <a:rPr lang="de-DE" dirty="0" err="1"/>
              <a:t>quality</a:t>
            </a:r>
            <a:r>
              <a:rPr lang="de-DE" dirty="0"/>
              <a:t> </a:t>
            </a:r>
            <a:r>
              <a:rPr lang="de-DE" dirty="0" err="1"/>
              <a:t>index</a:t>
            </a:r>
            <a:r>
              <a:rPr lang="de-DE" dirty="0"/>
              <a:t> </a:t>
            </a:r>
            <a:r>
              <a:rPr lang="de-DE" dirty="0" err="1"/>
              <a:t>based</a:t>
            </a:r>
            <a:r>
              <a:rPr lang="de-DE" dirty="0"/>
              <a:t> on </a:t>
            </a:r>
            <a:r>
              <a:rPr lang="de-DE" dirty="0" err="1"/>
              <a:t>that</a:t>
            </a:r>
            <a:endParaRPr lang="de-DE" dirty="0"/>
          </a:p>
          <a:p>
            <a:endParaRPr lang="en-GB" dirty="0"/>
          </a:p>
        </p:txBody>
      </p:sp>
      <p:sp>
        <p:nvSpPr>
          <p:cNvPr id="4" name="Foliennummernplatzhalter 3"/>
          <p:cNvSpPr>
            <a:spLocks noGrp="1"/>
          </p:cNvSpPr>
          <p:nvPr>
            <p:ph type="sldNum" sz="quarter" idx="5"/>
          </p:nvPr>
        </p:nvSpPr>
        <p:spPr/>
        <p:txBody>
          <a:bodyPr/>
          <a:lstStyle/>
          <a:p>
            <a:fld id="{077D10B9-D5C9-42E3-BC63-97122FA35AFB}" type="slidenum">
              <a:rPr lang="en-GB" smtClean="0"/>
              <a:t>3</a:t>
            </a:fld>
            <a:endParaRPr lang="en-GB"/>
          </a:p>
        </p:txBody>
      </p:sp>
    </p:spTree>
    <p:extLst>
      <p:ext uri="{BB962C8B-B14F-4D97-AF65-F5344CB8AC3E}">
        <p14:creationId xmlns:p14="http://schemas.microsoft.com/office/powerpoint/2010/main" val="3639163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So in </a:t>
            </a:r>
            <a:r>
              <a:rPr lang="de-DE" dirty="0" err="1"/>
              <a:t>order</a:t>
            </a:r>
            <a:r>
              <a:rPr lang="de-DE" dirty="0"/>
              <a:t> </a:t>
            </a:r>
            <a:r>
              <a:rPr lang="de-DE" dirty="0" err="1"/>
              <a:t>to</a:t>
            </a:r>
            <a:r>
              <a:rPr lang="de-DE" dirty="0"/>
              <a:t> </a:t>
            </a:r>
            <a:r>
              <a:rPr lang="de-DE" dirty="0" err="1"/>
              <a:t>understand</a:t>
            </a:r>
            <a:r>
              <a:rPr lang="de-DE" dirty="0"/>
              <a:t> </a:t>
            </a:r>
            <a:r>
              <a:rPr lang="de-DE" dirty="0" err="1"/>
              <a:t>what</a:t>
            </a:r>
            <a:r>
              <a:rPr lang="de-DE" dirty="0"/>
              <a:t> </a:t>
            </a:r>
            <a:r>
              <a:rPr lang="de-DE" dirty="0" err="1"/>
              <a:t>we</a:t>
            </a:r>
            <a:r>
              <a:rPr lang="de-DE" dirty="0"/>
              <a:t> </a:t>
            </a:r>
            <a:r>
              <a:rPr lang="de-DE" dirty="0" err="1"/>
              <a:t>did</a:t>
            </a:r>
            <a:r>
              <a:rPr lang="de-DE" dirty="0"/>
              <a:t> </a:t>
            </a:r>
            <a:r>
              <a:rPr lang="de-DE" dirty="0" err="1"/>
              <a:t>it‘s</a:t>
            </a:r>
            <a:r>
              <a:rPr lang="de-DE" dirty="0"/>
              <a:t> </a:t>
            </a:r>
            <a:r>
              <a:rPr lang="de-DE" dirty="0" err="1"/>
              <a:t>important</a:t>
            </a:r>
            <a:r>
              <a:rPr lang="de-DE" dirty="0"/>
              <a:t> </a:t>
            </a:r>
            <a:r>
              <a:rPr lang="de-DE" dirty="0" err="1"/>
              <a:t>to</a:t>
            </a:r>
            <a:r>
              <a:rPr lang="de-DE" dirty="0"/>
              <a:t> </a:t>
            </a:r>
            <a:r>
              <a:rPr lang="de-DE" dirty="0" err="1"/>
              <a:t>know</a:t>
            </a:r>
            <a:r>
              <a:rPr lang="de-DE" dirty="0"/>
              <a:t> </a:t>
            </a:r>
            <a:r>
              <a:rPr lang="de-DE" dirty="0" err="1"/>
              <a:t>what</a:t>
            </a:r>
            <a:r>
              <a:rPr lang="de-DE" dirty="0"/>
              <a:t> BLUPs and EBLUPs </a:t>
            </a:r>
            <a:r>
              <a:rPr lang="de-DE" dirty="0" err="1"/>
              <a:t>are</a:t>
            </a:r>
            <a:r>
              <a:rPr lang="de-DE" dirty="0"/>
              <a:t> so I will </a:t>
            </a:r>
            <a:r>
              <a:rPr lang="de-DE" dirty="0" err="1"/>
              <a:t>quickly</a:t>
            </a:r>
            <a:r>
              <a:rPr lang="de-DE" dirty="0"/>
              <a:t> </a:t>
            </a:r>
            <a:r>
              <a:rPr lang="de-DE" dirty="0" err="1"/>
              <a:t>cover</a:t>
            </a:r>
            <a:r>
              <a:rPr lang="de-DE" dirty="0"/>
              <a:t> </a:t>
            </a:r>
            <a:r>
              <a:rPr lang="de-DE" dirty="0" err="1"/>
              <a:t>that</a:t>
            </a:r>
            <a:r>
              <a:rPr lang="de-DE" dirty="0"/>
              <a:t> </a:t>
            </a:r>
            <a:r>
              <a:rPr lang="de-DE" dirty="0" err="1"/>
              <a:t>before</a:t>
            </a:r>
            <a:r>
              <a:rPr lang="de-DE" dirty="0"/>
              <a:t> </a:t>
            </a:r>
            <a:r>
              <a:rPr lang="de-DE" dirty="0" err="1"/>
              <a:t>moving</a:t>
            </a:r>
            <a:r>
              <a:rPr lang="de-DE" dirty="0"/>
              <a:t> on</a:t>
            </a:r>
          </a:p>
          <a:p>
            <a:r>
              <a:rPr lang="de-DE" dirty="0"/>
              <a:t>BLUPs </a:t>
            </a:r>
            <a:r>
              <a:rPr lang="en-GB" dirty="0"/>
              <a:t>are the predicted </a:t>
            </a:r>
            <a:r>
              <a:rPr lang="en-GB" i="1" dirty="0"/>
              <a:t>genetic effects</a:t>
            </a:r>
            <a:r>
              <a:rPr lang="en-GB" dirty="0"/>
              <a:t> of each genotype. They represent how much a genotype deviates from the overall mean, after correcting for environmental effects such as replication.</a:t>
            </a:r>
          </a:p>
          <a:p>
            <a:endParaRPr lang="en-GB" dirty="0"/>
          </a:p>
          <a:p>
            <a:r>
              <a:rPr lang="en-GB" dirty="0" err="1"/>
              <a:t>eBLUPs</a:t>
            </a:r>
            <a:r>
              <a:rPr lang="en-GB" dirty="0"/>
              <a:t> are the </a:t>
            </a:r>
            <a:r>
              <a:rPr lang="en-GB" i="1" dirty="0"/>
              <a:t>predicted genotypic values</a:t>
            </a:r>
            <a:r>
              <a:rPr lang="en-GB" dirty="0"/>
              <a:t>: the overall mean </a:t>
            </a:r>
            <a:r>
              <a:rPr lang="en-GB" b="0" dirty="0"/>
              <a:t>plus</a:t>
            </a:r>
            <a:r>
              <a:rPr lang="en-GB" dirty="0"/>
              <a:t> the BLUP of each genotype.</a:t>
            </a:r>
            <a:br>
              <a:rPr lang="en-GB" dirty="0"/>
            </a:br>
            <a:r>
              <a:rPr lang="en-GB" dirty="0"/>
              <a:t>They give the final, corrected performance value for every accession</a:t>
            </a:r>
          </a:p>
          <a:p>
            <a:endParaRPr lang="en-GB" dirty="0"/>
          </a:p>
          <a:p>
            <a:r>
              <a:rPr lang="en-GB" dirty="0"/>
              <a:t>Why use them? -&gt; They are clean, noise reduced values for ranking and multi-trait scoring</a:t>
            </a:r>
            <a:endParaRPr lang="de-DE" dirty="0"/>
          </a:p>
          <a:p>
            <a:endParaRPr lang="en-GB" dirty="0"/>
          </a:p>
        </p:txBody>
      </p:sp>
      <p:sp>
        <p:nvSpPr>
          <p:cNvPr id="4" name="Foliennummernplatzhalter 3"/>
          <p:cNvSpPr>
            <a:spLocks noGrp="1"/>
          </p:cNvSpPr>
          <p:nvPr>
            <p:ph type="sldNum" sz="quarter" idx="5"/>
          </p:nvPr>
        </p:nvSpPr>
        <p:spPr/>
        <p:txBody>
          <a:bodyPr/>
          <a:lstStyle/>
          <a:p>
            <a:fld id="{077D10B9-D5C9-42E3-BC63-97122FA35AFB}" type="slidenum">
              <a:rPr lang="en-GB" smtClean="0"/>
              <a:t>4</a:t>
            </a:fld>
            <a:endParaRPr lang="en-GB"/>
          </a:p>
        </p:txBody>
      </p:sp>
    </p:spTree>
    <p:extLst>
      <p:ext uri="{BB962C8B-B14F-4D97-AF65-F5344CB8AC3E}">
        <p14:creationId xmlns:p14="http://schemas.microsoft.com/office/powerpoint/2010/main" val="6406645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As </a:t>
            </a:r>
            <a:r>
              <a:rPr lang="de-DE" dirty="0" err="1"/>
              <a:t>mentioned</a:t>
            </a:r>
            <a:r>
              <a:rPr lang="de-DE" dirty="0"/>
              <a:t> </a:t>
            </a:r>
            <a:r>
              <a:rPr lang="de-DE" dirty="0" err="1"/>
              <a:t>before</a:t>
            </a:r>
            <a:r>
              <a:rPr lang="de-DE" dirty="0"/>
              <a:t> </a:t>
            </a:r>
            <a:r>
              <a:rPr lang="de-DE" dirty="0" err="1"/>
              <a:t>we</a:t>
            </a:r>
            <a:r>
              <a:rPr lang="de-DE" dirty="0"/>
              <a:t> </a:t>
            </a:r>
            <a:r>
              <a:rPr lang="de-DE" dirty="0" err="1"/>
              <a:t>tested</a:t>
            </a:r>
            <a:r>
              <a:rPr lang="de-DE" dirty="0"/>
              <a:t> </a:t>
            </a:r>
            <a:r>
              <a:rPr lang="de-DE" dirty="0" err="1"/>
              <a:t>for</a:t>
            </a:r>
            <a:r>
              <a:rPr lang="de-DE" dirty="0"/>
              <a:t> </a:t>
            </a:r>
            <a:r>
              <a:rPr lang="de-DE" dirty="0" err="1"/>
              <a:t>each</a:t>
            </a:r>
            <a:r>
              <a:rPr lang="de-DE" dirty="0"/>
              <a:t> </a:t>
            </a:r>
            <a:r>
              <a:rPr lang="de-DE" dirty="0" err="1"/>
              <a:t>trait</a:t>
            </a:r>
            <a:r>
              <a:rPr lang="de-DE" dirty="0"/>
              <a:t> </a:t>
            </a:r>
            <a:r>
              <a:rPr lang="de-DE" dirty="0" err="1"/>
              <a:t>whether</a:t>
            </a:r>
            <a:r>
              <a:rPr lang="de-DE" dirty="0"/>
              <a:t> </a:t>
            </a:r>
            <a:r>
              <a:rPr lang="de-DE" dirty="0" err="1"/>
              <a:t>the</a:t>
            </a:r>
            <a:r>
              <a:rPr lang="de-DE" dirty="0"/>
              <a:t> </a:t>
            </a:r>
            <a:r>
              <a:rPr lang="de-DE" dirty="0" err="1"/>
              <a:t>genotype</a:t>
            </a:r>
            <a:r>
              <a:rPr lang="de-DE" dirty="0"/>
              <a:t> </a:t>
            </a:r>
            <a:r>
              <a:rPr lang="de-DE" dirty="0" err="1"/>
              <a:t>has</a:t>
            </a:r>
            <a:r>
              <a:rPr lang="de-DE" dirty="0"/>
              <a:t> a </a:t>
            </a:r>
            <a:r>
              <a:rPr lang="de-DE" dirty="0" err="1"/>
              <a:t>significant</a:t>
            </a:r>
            <a:r>
              <a:rPr lang="de-DE" dirty="0"/>
              <a:t> </a:t>
            </a:r>
            <a:r>
              <a:rPr lang="de-DE" dirty="0" err="1"/>
              <a:t>effect</a:t>
            </a:r>
            <a:r>
              <a:rPr lang="de-DE" dirty="0"/>
              <a:t>, </a:t>
            </a:r>
            <a:r>
              <a:rPr lang="de-DE" dirty="0" err="1"/>
              <a:t>We</a:t>
            </a:r>
            <a:r>
              <a:rPr lang="de-DE" dirty="0"/>
              <a:t> </a:t>
            </a:r>
            <a:r>
              <a:rPr lang="de-DE" dirty="0" err="1"/>
              <a:t>used</a:t>
            </a:r>
            <a:r>
              <a:rPr lang="de-DE" dirty="0"/>
              <a:t> a linear </a:t>
            </a:r>
            <a:r>
              <a:rPr lang="de-DE" dirty="0" err="1"/>
              <a:t>mixed</a:t>
            </a:r>
            <a:r>
              <a:rPr lang="de-DE" dirty="0"/>
              <a:t> </a:t>
            </a:r>
            <a:r>
              <a:rPr lang="de-DE" dirty="0" err="1"/>
              <a:t>model</a:t>
            </a:r>
            <a:r>
              <a:rPr lang="de-DE" dirty="0"/>
              <a:t> </a:t>
            </a:r>
            <a:r>
              <a:rPr lang="de-DE" dirty="0" err="1"/>
              <a:t>with</a:t>
            </a:r>
            <a:r>
              <a:rPr lang="de-DE" dirty="0"/>
              <a:t> </a:t>
            </a:r>
            <a:r>
              <a:rPr lang="de-DE" dirty="0" err="1"/>
              <a:t>geotype</a:t>
            </a:r>
            <a:r>
              <a:rPr lang="de-DE" dirty="0"/>
              <a:t> </a:t>
            </a:r>
            <a:r>
              <a:rPr lang="de-DE" dirty="0" err="1"/>
              <a:t>as</a:t>
            </a:r>
            <a:r>
              <a:rPr lang="de-DE" dirty="0"/>
              <a:t> </a:t>
            </a:r>
            <a:r>
              <a:rPr lang="de-DE" dirty="0" err="1"/>
              <a:t>fixed</a:t>
            </a:r>
            <a:r>
              <a:rPr lang="de-DE" dirty="0"/>
              <a:t> and </a:t>
            </a:r>
            <a:r>
              <a:rPr lang="de-DE" dirty="0" err="1"/>
              <a:t>replications</a:t>
            </a:r>
            <a:r>
              <a:rPr lang="de-DE" dirty="0"/>
              <a:t> </a:t>
            </a:r>
            <a:r>
              <a:rPr lang="de-DE" dirty="0" err="1"/>
              <a:t>as</a:t>
            </a:r>
            <a:r>
              <a:rPr lang="de-DE" dirty="0"/>
              <a:t> a </a:t>
            </a:r>
            <a:r>
              <a:rPr lang="de-DE" dirty="0" err="1"/>
              <a:t>random</a:t>
            </a:r>
            <a:r>
              <a:rPr lang="de-DE" dirty="0"/>
              <a:t> </a:t>
            </a:r>
            <a:r>
              <a:rPr lang="de-DE" dirty="0" err="1"/>
              <a:t>effect</a:t>
            </a:r>
            <a:endParaRPr lang="de-DE" dirty="0"/>
          </a:p>
          <a:p>
            <a:r>
              <a:rPr lang="de-DE" dirty="0"/>
              <a:t> </a:t>
            </a:r>
            <a:r>
              <a:rPr lang="de-DE" dirty="0" err="1"/>
              <a:t>we</a:t>
            </a:r>
            <a:r>
              <a:rPr lang="de-DE" dirty="0"/>
              <a:t> </a:t>
            </a:r>
            <a:r>
              <a:rPr lang="de-DE" dirty="0" err="1"/>
              <a:t>then</a:t>
            </a:r>
            <a:r>
              <a:rPr lang="de-DE" dirty="0"/>
              <a:t> </a:t>
            </a:r>
            <a:r>
              <a:rPr lang="de-DE" dirty="0" err="1"/>
              <a:t>extracted</a:t>
            </a:r>
            <a:r>
              <a:rPr lang="de-DE" dirty="0"/>
              <a:t> </a:t>
            </a:r>
            <a:r>
              <a:rPr lang="de-DE" dirty="0" err="1"/>
              <a:t>the</a:t>
            </a:r>
            <a:r>
              <a:rPr lang="de-DE" dirty="0"/>
              <a:t> BLUPs </a:t>
            </a:r>
            <a:r>
              <a:rPr lang="de-DE" dirty="0" err="1"/>
              <a:t>usig</a:t>
            </a:r>
            <a:r>
              <a:rPr lang="de-DE" dirty="0"/>
              <a:t> a </a:t>
            </a:r>
            <a:r>
              <a:rPr lang="de-DE" dirty="0" err="1"/>
              <a:t>model</a:t>
            </a:r>
            <a:r>
              <a:rPr lang="de-DE" dirty="0"/>
              <a:t> </a:t>
            </a:r>
            <a:r>
              <a:rPr lang="de-DE" dirty="0" err="1"/>
              <a:t>where</a:t>
            </a:r>
            <a:r>
              <a:rPr lang="de-DE" dirty="0"/>
              <a:t> </a:t>
            </a:r>
            <a:r>
              <a:rPr lang="de-DE" dirty="0" err="1"/>
              <a:t>both</a:t>
            </a:r>
            <a:r>
              <a:rPr lang="de-DE" dirty="0"/>
              <a:t> </a:t>
            </a:r>
            <a:r>
              <a:rPr lang="de-DE" dirty="0" err="1"/>
              <a:t>genotype</a:t>
            </a:r>
            <a:r>
              <a:rPr lang="de-DE" dirty="0"/>
              <a:t> and </a:t>
            </a:r>
            <a:r>
              <a:rPr lang="de-DE" dirty="0" err="1"/>
              <a:t>replications</a:t>
            </a:r>
            <a:r>
              <a:rPr lang="de-DE" dirty="0"/>
              <a:t> </a:t>
            </a:r>
            <a:r>
              <a:rPr lang="de-DE" dirty="0" err="1"/>
              <a:t>are</a:t>
            </a:r>
            <a:r>
              <a:rPr lang="de-DE" dirty="0"/>
              <a:t> </a:t>
            </a:r>
            <a:r>
              <a:rPr lang="de-DE" dirty="0" err="1"/>
              <a:t>random</a:t>
            </a:r>
            <a:r>
              <a:rPr lang="de-DE" dirty="0"/>
              <a:t>, but </a:t>
            </a:r>
            <a:r>
              <a:rPr lang="de-DE" dirty="0" err="1"/>
              <a:t>the</a:t>
            </a:r>
            <a:r>
              <a:rPr lang="de-DE" dirty="0"/>
              <a:t> </a:t>
            </a:r>
            <a:r>
              <a:rPr lang="de-DE" dirty="0" err="1"/>
              <a:t>overall</a:t>
            </a:r>
            <a:r>
              <a:rPr lang="de-DE" dirty="0"/>
              <a:t> </a:t>
            </a:r>
            <a:r>
              <a:rPr lang="de-DE" dirty="0" err="1"/>
              <a:t>mean</a:t>
            </a:r>
            <a:r>
              <a:rPr lang="de-DE" dirty="0"/>
              <a:t> </a:t>
            </a:r>
            <a:r>
              <a:rPr lang="de-DE" dirty="0" err="1"/>
              <a:t>is</a:t>
            </a:r>
            <a:r>
              <a:rPr lang="de-DE" dirty="0"/>
              <a:t> </a:t>
            </a:r>
            <a:r>
              <a:rPr lang="de-DE" dirty="0" err="1"/>
              <a:t>fixed</a:t>
            </a:r>
            <a:r>
              <a:rPr lang="de-DE" dirty="0"/>
              <a:t>.</a:t>
            </a:r>
          </a:p>
          <a:p>
            <a:r>
              <a:rPr lang="de-DE" dirty="0" err="1"/>
              <a:t>We</a:t>
            </a:r>
            <a:r>
              <a:rPr lang="de-DE" dirty="0"/>
              <a:t> </a:t>
            </a:r>
            <a:r>
              <a:rPr lang="de-DE" dirty="0" err="1"/>
              <a:t>then</a:t>
            </a:r>
            <a:r>
              <a:rPr lang="de-DE" dirty="0"/>
              <a:t> </a:t>
            </a:r>
            <a:r>
              <a:rPr lang="de-DE" dirty="0" err="1"/>
              <a:t>used</a:t>
            </a:r>
            <a:r>
              <a:rPr lang="de-DE" dirty="0"/>
              <a:t> </a:t>
            </a:r>
            <a:r>
              <a:rPr lang="de-DE" dirty="0" err="1"/>
              <a:t>the</a:t>
            </a:r>
            <a:r>
              <a:rPr lang="de-DE" dirty="0"/>
              <a:t> </a:t>
            </a:r>
            <a:r>
              <a:rPr lang="de-DE" dirty="0" err="1"/>
              <a:t>eblups</a:t>
            </a:r>
            <a:r>
              <a:rPr lang="de-DE" dirty="0"/>
              <a:t> </a:t>
            </a:r>
            <a:r>
              <a:rPr lang="de-DE" dirty="0" err="1"/>
              <a:t>of</a:t>
            </a:r>
            <a:r>
              <a:rPr lang="de-DE" dirty="0"/>
              <a:t> all </a:t>
            </a:r>
            <a:r>
              <a:rPr lang="de-DE" dirty="0" err="1"/>
              <a:t>measured</a:t>
            </a:r>
            <a:r>
              <a:rPr lang="de-DE" dirty="0"/>
              <a:t> </a:t>
            </a:r>
            <a:r>
              <a:rPr lang="de-DE" dirty="0" err="1"/>
              <a:t>traits</a:t>
            </a:r>
            <a:r>
              <a:rPr lang="de-DE" dirty="0"/>
              <a:t> </a:t>
            </a:r>
            <a:r>
              <a:rPr lang="de-DE" dirty="0" err="1"/>
              <a:t>to</a:t>
            </a:r>
            <a:r>
              <a:rPr lang="de-DE" dirty="0"/>
              <a:t> </a:t>
            </a:r>
            <a:r>
              <a:rPr lang="de-DE" dirty="0" err="1"/>
              <a:t>calculate</a:t>
            </a:r>
            <a:r>
              <a:rPr lang="de-DE" dirty="0"/>
              <a:t> </a:t>
            </a:r>
            <a:r>
              <a:rPr lang="de-DE" dirty="0" err="1"/>
              <a:t>the</a:t>
            </a:r>
            <a:r>
              <a:rPr lang="de-DE" dirty="0"/>
              <a:t> </a:t>
            </a:r>
            <a:r>
              <a:rPr lang="de-DE" dirty="0" err="1"/>
              <a:t>multi</a:t>
            </a:r>
            <a:r>
              <a:rPr lang="de-DE" dirty="0"/>
              <a:t> </a:t>
            </a:r>
            <a:r>
              <a:rPr lang="de-DE" dirty="0" err="1"/>
              <a:t>trait</a:t>
            </a:r>
            <a:r>
              <a:rPr lang="de-DE" dirty="0"/>
              <a:t> score.</a:t>
            </a:r>
          </a:p>
          <a:p>
            <a:r>
              <a:rPr lang="de-DE" dirty="0"/>
              <a:t>This </a:t>
            </a:r>
            <a:r>
              <a:rPr lang="de-DE" dirty="0" err="1"/>
              <a:t>is</a:t>
            </a:r>
            <a:r>
              <a:rPr lang="de-DE" dirty="0"/>
              <a:t> </a:t>
            </a:r>
            <a:r>
              <a:rPr lang="de-DE" dirty="0" err="1"/>
              <a:t>done</a:t>
            </a:r>
            <a:r>
              <a:rPr lang="de-DE" dirty="0"/>
              <a:t> </a:t>
            </a:r>
            <a:r>
              <a:rPr lang="de-DE" dirty="0" err="1"/>
              <a:t>by</a:t>
            </a:r>
            <a:r>
              <a:rPr lang="de-DE" dirty="0"/>
              <a:t> </a:t>
            </a:r>
            <a:r>
              <a:rPr lang="de-DE" dirty="0" err="1"/>
              <a:t>standardizing</a:t>
            </a:r>
            <a:r>
              <a:rPr lang="de-DE" dirty="0"/>
              <a:t> all </a:t>
            </a:r>
            <a:r>
              <a:rPr lang="de-DE" dirty="0" err="1"/>
              <a:t>values</a:t>
            </a:r>
            <a:r>
              <a:rPr lang="de-DE" dirty="0"/>
              <a:t> </a:t>
            </a:r>
            <a:r>
              <a:rPr lang="de-DE" dirty="0" err="1"/>
              <a:t>to</a:t>
            </a:r>
            <a:r>
              <a:rPr lang="de-DE" dirty="0"/>
              <a:t> </a:t>
            </a:r>
            <a:r>
              <a:rPr lang="de-DE" dirty="0" err="1"/>
              <a:t>make</a:t>
            </a:r>
            <a:r>
              <a:rPr lang="de-DE" dirty="0"/>
              <a:t> </a:t>
            </a:r>
            <a:r>
              <a:rPr lang="de-DE" dirty="0" err="1"/>
              <a:t>them</a:t>
            </a:r>
            <a:r>
              <a:rPr lang="de-DE" dirty="0"/>
              <a:t> </a:t>
            </a:r>
            <a:r>
              <a:rPr lang="de-DE" dirty="0" err="1"/>
              <a:t>comparable</a:t>
            </a:r>
            <a:r>
              <a:rPr lang="de-DE" dirty="0"/>
              <a:t> and </a:t>
            </a:r>
            <a:r>
              <a:rPr lang="de-DE" dirty="0" err="1"/>
              <a:t>adding</a:t>
            </a:r>
            <a:r>
              <a:rPr lang="de-DE" dirty="0"/>
              <a:t> </a:t>
            </a:r>
            <a:r>
              <a:rPr lang="de-DE" dirty="0" err="1"/>
              <a:t>them</a:t>
            </a:r>
            <a:r>
              <a:rPr lang="de-DE" dirty="0"/>
              <a:t> </a:t>
            </a:r>
            <a:r>
              <a:rPr lang="de-DE" dirty="0" err="1"/>
              <a:t>together</a:t>
            </a:r>
            <a:r>
              <a:rPr lang="de-DE" dirty="0"/>
              <a:t>.</a:t>
            </a:r>
          </a:p>
          <a:p>
            <a:r>
              <a:rPr lang="de-DE" dirty="0"/>
              <a:t>In </a:t>
            </a:r>
            <a:r>
              <a:rPr lang="de-DE" dirty="0" err="1"/>
              <a:t>the</a:t>
            </a:r>
            <a:r>
              <a:rPr lang="de-DE" dirty="0"/>
              <a:t> end </a:t>
            </a:r>
            <a:r>
              <a:rPr lang="de-DE" dirty="0" err="1"/>
              <a:t>each</a:t>
            </a:r>
            <a:r>
              <a:rPr lang="de-DE" dirty="0"/>
              <a:t> </a:t>
            </a:r>
            <a:r>
              <a:rPr lang="de-DE" dirty="0" err="1"/>
              <a:t>accession</a:t>
            </a:r>
            <a:r>
              <a:rPr lang="de-DE" dirty="0"/>
              <a:t> </a:t>
            </a:r>
            <a:r>
              <a:rPr lang="de-DE" dirty="0" err="1"/>
              <a:t>has</a:t>
            </a:r>
            <a:r>
              <a:rPr lang="de-DE" dirty="0"/>
              <a:t> </a:t>
            </a:r>
            <a:r>
              <a:rPr lang="de-DE" dirty="0" err="1"/>
              <a:t>one</a:t>
            </a:r>
            <a:r>
              <a:rPr lang="de-DE" dirty="0"/>
              <a:t> </a:t>
            </a:r>
            <a:r>
              <a:rPr lang="de-DE" dirty="0" err="1"/>
              <a:t>overall</a:t>
            </a:r>
            <a:r>
              <a:rPr lang="de-DE" dirty="0"/>
              <a:t> </a:t>
            </a:r>
            <a:r>
              <a:rPr lang="de-DE" dirty="0" err="1"/>
              <a:t>adaptability</a:t>
            </a:r>
            <a:r>
              <a:rPr lang="de-DE" dirty="0"/>
              <a:t> score </a:t>
            </a:r>
            <a:r>
              <a:rPr lang="de-DE" dirty="0" err="1"/>
              <a:t>which</a:t>
            </a:r>
            <a:r>
              <a:rPr lang="de-DE" dirty="0"/>
              <a:t> </a:t>
            </a:r>
            <a:r>
              <a:rPr lang="de-DE" dirty="0" err="1"/>
              <a:t>reflects</a:t>
            </a:r>
            <a:r>
              <a:rPr lang="de-DE" dirty="0"/>
              <a:t> </a:t>
            </a:r>
            <a:r>
              <a:rPr lang="de-DE" dirty="0" err="1"/>
              <a:t>its</a:t>
            </a:r>
            <a:r>
              <a:rPr lang="de-DE" dirty="0"/>
              <a:t> </a:t>
            </a:r>
            <a:r>
              <a:rPr lang="de-DE" dirty="0" err="1"/>
              <a:t>performance</a:t>
            </a:r>
            <a:r>
              <a:rPr lang="de-DE" dirty="0"/>
              <a:t> </a:t>
            </a:r>
            <a:r>
              <a:rPr lang="de-DE" dirty="0" err="1"/>
              <a:t>across</a:t>
            </a:r>
            <a:r>
              <a:rPr lang="de-DE" dirty="0"/>
              <a:t> </a:t>
            </a:r>
            <a:r>
              <a:rPr lang="de-DE" dirty="0" err="1"/>
              <a:t>phenotypic</a:t>
            </a:r>
            <a:r>
              <a:rPr lang="de-DE" dirty="0"/>
              <a:t> </a:t>
            </a:r>
            <a:r>
              <a:rPr lang="de-DE" dirty="0" err="1"/>
              <a:t>traits</a:t>
            </a:r>
            <a:endParaRPr lang="de-DE" dirty="0"/>
          </a:p>
          <a:p>
            <a:endParaRPr lang="en-GB" dirty="0"/>
          </a:p>
        </p:txBody>
      </p:sp>
      <p:sp>
        <p:nvSpPr>
          <p:cNvPr id="4" name="Foliennummernplatzhalter 3"/>
          <p:cNvSpPr>
            <a:spLocks noGrp="1"/>
          </p:cNvSpPr>
          <p:nvPr>
            <p:ph type="sldNum" sz="quarter" idx="5"/>
          </p:nvPr>
        </p:nvSpPr>
        <p:spPr/>
        <p:txBody>
          <a:bodyPr/>
          <a:lstStyle/>
          <a:p>
            <a:fld id="{077D10B9-D5C9-42E3-BC63-97122FA35AFB}" type="slidenum">
              <a:rPr lang="en-GB" smtClean="0"/>
              <a:t>5</a:t>
            </a:fld>
            <a:endParaRPr lang="en-GB"/>
          </a:p>
        </p:txBody>
      </p:sp>
    </p:spTree>
    <p:extLst>
      <p:ext uri="{BB962C8B-B14F-4D97-AF65-F5344CB8AC3E}">
        <p14:creationId xmlns:p14="http://schemas.microsoft.com/office/powerpoint/2010/main" val="887712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Overall, ASSYST-271, a spring </a:t>
            </a:r>
            <a:r>
              <a:rPr lang="de-DE" dirty="0" err="1"/>
              <a:t>oilseed</a:t>
            </a:r>
            <a:r>
              <a:rPr lang="de-DE" dirty="0"/>
              <a:t> </a:t>
            </a:r>
            <a:r>
              <a:rPr lang="de-DE" dirty="0" err="1"/>
              <a:t>rape</a:t>
            </a:r>
            <a:r>
              <a:rPr lang="de-DE" dirty="0"/>
              <a:t>, </a:t>
            </a:r>
            <a:r>
              <a:rPr lang="de-DE" dirty="0" err="1"/>
              <a:t>performs</a:t>
            </a:r>
            <a:r>
              <a:rPr lang="de-DE" dirty="0"/>
              <a:t> </a:t>
            </a:r>
            <a:r>
              <a:rPr lang="de-DE" dirty="0" err="1"/>
              <a:t>best</a:t>
            </a:r>
            <a:r>
              <a:rPr lang="de-DE" dirty="0"/>
              <a:t> </a:t>
            </a:r>
            <a:r>
              <a:rPr lang="de-DE" dirty="0" err="1"/>
              <a:t>regarding</a:t>
            </a:r>
            <a:r>
              <a:rPr lang="de-DE" dirty="0"/>
              <a:t> </a:t>
            </a:r>
            <a:r>
              <a:rPr lang="de-DE" dirty="0" err="1"/>
              <a:t>phenotypical</a:t>
            </a:r>
            <a:r>
              <a:rPr lang="de-DE" dirty="0"/>
              <a:t> </a:t>
            </a:r>
            <a:r>
              <a:rPr lang="de-DE" dirty="0" err="1"/>
              <a:t>traits</a:t>
            </a:r>
            <a:r>
              <a:rPr lang="de-DE" dirty="0"/>
              <a:t>. Runner </a:t>
            </a:r>
            <a:r>
              <a:rPr lang="de-DE" dirty="0" err="1"/>
              <a:t>up</a:t>
            </a:r>
            <a:r>
              <a:rPr lang="de-DE" dirty="0"/>
              <a:t> </a:t>
            </a:r>
            <a:r>
              <a:rPr lang="de-DE" dirty="0" err="1"/>
              <a:t>is</a:t>
            </a:r>
            <a:r>
              <a:rPr lang="de-DE" dirty="0"/>
              <a:t> 219, </a:t>
            </a:r>
            <a:r>
              <a:rPr lang="de-DE" dirty="0" err="1"/>
              <a:t>which</a:t>
            </a:r>
            <a:r>
              <a:rPr lang="de-DE" dirty="0"/>
              <a:t> </a:t>
            </a:r>
            <a:r>
              <a:rPr lang="de-DE" dirty="0" err="1"/>
              <a:t>is</a:t>
            </a:r>
            <a:r>
              <a:rPr lang="de-DE" dirty="0"/>
              <a:t> a </a:t>
            </a:r>
            <a:r>
              <a:rPr lang="de-DE" dirty="0" err="1"/>
              <a:t>siberian</a:t>
            </a:r>
            <a:r>
              <a:rPr lang="de-DE" dirty="0"/>
              <a:t> </a:t>
            </a:r>
            <a:r>
              <a:rPr lang="de-DE" dirty="0" err="1"/>
              <a:t>kale</a:t>
            </a:r>
            <a:r>
              <a:rPr lang="de-DE" dirty="0"/>
              <a:t> and on </a:t>
            </a:r>
            <a:r>
              <a:rPr lang="de-DE" dirty="0" err="1"/>
              <a:t>third</a:t>
            </a:r>
            <a:r>
              <a:rPr lang="de-DE" dirty="0"/>
              <a:t> </a:t>
            </a:r>
            <a:r>
              <a:rPr lang="de-DE" dirty="0" err="1"/>
              <a:t>place</a:t>
            </a:r>
            <a:r>
              <a:rPr lang="de-DE" dirty="0"/>
              <a:t> </a:t>
            </a:r>
            <a:r>
              <a:rPr lang="de-DE" dirty="0" err="1"/>
              <a:t>we</a:t>
            </a:r>
            <a:r>
              <a:rPr lang="de-DE" dirty="0"/>
              <a:t> </a:t>
            </a:r>
            <a:r>
              <a:rPr lang="de-DE" dirty="0" err="1"/>
              <a:t>have</a:t>
            </a:r>
            <a:r>
              <a:rPr lang="de-DE" dirty="0"/>
              <a:t> 419, a </a:t>
            </a:r>
            <a:r>
              <a:rPr lang="de-DE" dirty="0" err="1"/>
              <a:t>swede</a:t>
            </a:r>
            <a:r>
              <a:rPr lang="de-DE" dirty="0"/>
              <a:t>.</a:t>
            </a:r>
            <a:endParaRPr lang="en-GB" dirty="0"/>
          </a:p>
          <a:p>
            <a:r>
              <a:rPr lang="en-GB" dirty="0"/>
              <a:t>The worst performing accessions are 273, a spring oilseed rape and 427, a swede. </a:t>
            </a:r>
          </a:p>
          <a:p>
            <a:endParaRPr lang="en-GB" dirty="0"/>
          </a:p>
          <a:p>
            <a:r>
              <a:rPr lang="en-GB" dirty="0"/>
              <a:t>The results highlight that the genotype does in fact have a significant effect on the performance, not just across all types but also within, as can be seen with 271, the top performer and´273, both summer oil seed rapes.</a:t>
            </a:r>
          </a:p>
          <a:p>
            <a:endParaRPr lang="en-GB" dirty="0"/>
          </a:p>
          <a:p>
            <a:r>
              <a:rPr lang="en-GB" dirty="0"/>
              <a:t>If we were only looking at adaptability, the obvious choices would be 271, 419 and 120 but since we are also interested in genetic diversity, our final choice looks quite different, and Sammi is going to tell you all about that</a:t>
            </a:r>
          </a:p>
          <a:p>
            <a:endParaRPr lang="en-GB" dirty="0"/>
          </a:p>
          <a:p>
            <a:r>
              <a:rPr lang="en-GB" dirty="0"/>
              <a:t>This is where you come in :D </a:t>
            </a:r>
            <a:endParaRPr lang="de-DE" dirty="0"/>
          </a:p>
        </p:txBody>
      </p:sp>
      <p:sp>
        <p:nvSpPr>
          <p:cNvPr id="4" name="Foliennummernplatzhalter 3"/>
          <p:cNvSpPr>
            <a:spLocks noGrp="1"/>
          </p:cNvSpPr>
          <p:nvPr>
            <p:ph type="sldNum" sz="quarter" idx="5"/>
          </p:nvPr>
        </p:nvSpPr>
        <p:spPr/>
        <p:txBody>
          <a:bodyPr/>
          <a:lstStyle/>
          <a:p>
            <a:fld id="{077D10B9-D5C9-42E3-BC63-97122FA35AFB}" type="slidenum">
              <a:rPr lang="en-GB" smtClean="0"/>
              <a:t>6</a:t>
            </a:fld>
            <a:endParaRPr lang="en-GB"/>
          </a:p>
        </p:txBody>
      </p:sp>
    </p:spTree>
    <p:extLst>
      <p:ext uri="{BB962C8B-B14F-4D97-AF65-F5344CB8AC3E}">
        <p14:creationId xmlns:p14="http://schemas.microsoft.com/office/powerpoint/2010/main" val="23510200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55BFCB7-5697-0683-73E3-832A0817A073}"/>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en-GB"/>
          </a:p>
        </p:txBody>
      </p:sp>
      <p:sp>
        <p:nvSpPr>
          <p:cNvPr id="3" name="Untertitel 2">
            <a:extLst>
              <a:ext uri="{FF2B5EF4-FFF2-40B4-BE49-F238E27FC236}">
                <a16:creationId xmlns:a16="http://schemas.microsoft.com/office/drawing/2014/main" id="{A02DA854-35FD-67F6-FE20-33E17B684A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GB"/>
          </a:p>
        </p:txBody>
      </p:sp>
      <p:sp>
        <p:nvSpPr>
          <p:cNvPr id="4" name="Datumsplatzhalter 3">
            <a:extLst>
              <a:ext uri="{FF2B5EF4-FFF2-40B4-BE49-F238E27FC236}">
                <a16:creationId xmlns:a16="http://schemas.microsoft.com/office/drawing/2014/main" id="{05929408-3BEF-8FD7-E2B5-07EE7AD1956A}"/>
              </a:ext>
            </a:extLst>
          </p:cNvPr>
          <p:cNvSpPr>
            <a:spLocks noGrp="1"/>
          </p:cNvSpPr>
          <p:nvPr>
            <p:ph type="dt" sz="half" idx="10"/>
          </p:nvPr>
        </p:nvSpPr>
        <p:spPr/>
        <p:txBody>
          <a:bodyPr/>
          <a:lstStyle/>
          <a:p>
            <a:fld id="{5C9CAA3B-708C-40F7-8F3B-AD4A06AD8D72}" type="datetimeFigureOut">
              <a:rPr lang="en-GB" smtClean="0"/>
              <a:t>09/12/2025</a:t>
            </a:fld>
            <a:endParaRPr lang="en-GB"/>
          </a:p>
        </p:txBody>
      </p:sp>
      <p:sp>
        <p:nvSpPr>
          <p:cNvPr id="5" name="Fußzeilenplatzhalter 4">
            <a:extLst>
              <a:ext uri="{FF2B5EF4-FFF2-40B4-BE49-F238E27FC236}">
                <a16:creationId xmlns:a16="http://schemas.microsoft.com/office/drawing/2014/main" id="{B1517680-0AA6-A4DD-1F97-C49E8996B439}"/>
              </a:ext>
            </a:extLst>
          </p:cNvPr>
          <p:cNvSpPr>
            <a:spLocks noGrp="1"/>
          </p:cNvSpPr>
          <p:nvPr>
            <p:ph type="ftr" sz="quarter" idx="11"/>
          </p:nvPr>
        </p:nvSpPr>
        <p:spPr/>
        <p:txBody>
          <a:bodyPr/>
          <a:lstStyle/>
          <a:p>
            <a:endParaRPr lang="en-GB"/>
          </a:p>
        </p:txBody>
      </p:sp>
      <p:sp>
        <p:nvSpPr>
          <p:cNvPr id="6" name="Foliennummernplatzhalter 5">
            <a:extLst>
              <a:ext uri="{FF2B5EF4-FFF2-40B4-BE49-F238E27FC236}">
                <a16:creationId xmlns:a16="http://schemas.microsoft.com/office/drawing/2014/main" id="{0C2A8212-F33A-B144-295D-6790CED75BBC}"/>
              </a:ext>
            </a:extLst>
          </p:cNvPr>
          <p:cNvSpPr>
            <a:spLocks noGrp="1"/>
          </p:cNvSpPr>
          <p:nvPr>
            <p:ph type="sldNum" sz="quarter" idx="12"/>
          </p:nvPr>
        </p:nvSpPr>
        <p:spPr/>
        <p:txBody>
          <a:bodyPr/>
          <a:lstStyle/>
          <a:p>
            <a:fld id="{94A3F837-7400-430F-894E-A21D29BE8867}" type="slidenum">
              <a:rPr lang="en-GB" smtClean="0"/>
              <a:t>‹Nr.›</a:t>
            </a:fld>
            <a:endParaRPr lang="en-GB"/>
          </a:p>
        </p:txBody>
      </p:sp>
    </p:spTree>
    <p:extLst>
      <p:ext uri="{BB962C8B-B14F-4D97-AF65-F5344CB8AC3E}">
        <p14:creationId xmlns:p14="http://schemas.microsoft.com/office/powerpoint/2010/main" val="1371010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4C01B92-5DC8-4377-90F6-8F364CE85B16}"/>
              </a:ext>
            </a:extLst>
          </p:cNvPr>
          <p:cNvSpPr>
            <a:spLocks noGrp="1"/>
          </p:cNvSpPr>
          <p:nvPr>
            <p:ph type="title"/>
          </p:nvPr>
        </p:nvSpPr>
        <p:spPr/>
        <p:txBody>
          <a:bodyPr/>
          <a:lstStyle/>
          <a:p>
            <a:r>
              <a:rPr lang="de-DE"/>
              <a:t>Mastertitelformat bearbeiten</a:t>
            </a:r>
            <a:endParaRPr lang="en-GB"/>
          </a:p>
        </p:txBody>
      </p:sp>
      <p:sp>
        <p:nvSpPr>
          <p:cNvPr id="3" name="Inhaltsplatzhalter 2">
            <a:extLst>
              <a:ext uri="{FF2B5EF4-FFF2-40B4-BE49-F238E27FC236}">
                <a16:creationId xmlns:a16="http://schemas.microsoft.com/office/drawing/2014/main" id="{B52713AA-EDDE-099F-FCDD-A1AAE0DA9874}"/>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a:extLst>
              <a:ext uri="{FF2B5EF4-FFF2-40B4-BE49-F238E27FC236}">
                <a16:creationId xmlns:a16="http://schemas.microsoft.com/office/drawing/2014/main" id="{3DDEF81B-02B7-06DC-790A-18B9CCA2655E}"/>
              </a:ext>
            </a:extLst>
          </p:cNvPr>
          <p:cNvSpPr>
            <a:spLocks noGrp="1"/>
          </p:cNvSpPr>
          <p:nvPr>
            <p:ph type="dt" sz="half" idx="10"/>
          </p:nvPr>
        </p:nvSpPr>
        <p:spPr/>
        <p:txBody>
          <a:bodyPr/>
          <a:lstStyle/>
          <a:p>
            <a:fld id="{5C9CAA3B-708C-40F7-8F3B-AD4A06AD8D72}" type="datetimeFigureOut">
              <a:rPr lang="en-GB" smtClean="0"/>
              <a:t>09/12/2025</a:t>
            </a:fld>
            <a:endParaRPr lang="en-GB"/>
          </a:p>
        </p:txBody>
      </p:sp>
      <p:sp>
        <p:nvSpPr>
          <p:cNvPr id="5" name="Fußzeilenplatzhalter 4">
            <a:extLst>
              <a:ext uri="{FF2B5EF4-FFF2-40B4-BE49-F238E27FC236}">
                <a16:creationId xmlns:a16="http://schemas.microsoft.com/office/drawing/2014/main" id="{7651C342-970C-A14C-128C-38F3B71B2D28}"/>
              </a:ext>
            </a:extLst>
          </p:cNvPr>
          <p:cNvSpPr>
            <a:spLocks noGrp="1"/>
          </p:cNvSpPr>
          <p:nvPr>
            <p:ph type="ftr" sz="quarter" idx="11"/>
          </p:nvPr>
        </p:nvSpPr>
        <p:spPr/>
        <p:txBody>
          <a:bodyPr/>
          <a:lstStyle/>
          <a:p>
            <a:endParaRPr lang="en-GB"/>
          </a:p>
        </p:txBody>
      </p:sp>
      <p:sp>
        <p:nvSpPr>
          <p:cNvPr id="6" name="Foliennummernplatzhalter 5">
            <a:extLst>
              <a:ext uri="{FF2B5EF4-FFF2-40B4-BE49-F238E27FC236}">
                <a16:creationId xmlns:a16="http://schemas.microsoft.com/office/drawing/2014/main" id="{286E7147-D695-AA20-1358-C8546AC1DF67}"/>
              </a:ext>
            </a:extLst>
          </p:cNvPr>
          <p:cNvSpPr>
            <a:spLocks noGrp="1"/>
          </p:cNvSpPr>
          <p:nvPr>
            <p:ph type="sldNum" sz="quarter" idx="12"/>
          </p:nvPr>
        </p:nvSpPr>
        <p:spPr/>
        <p:txBody>
          <a:bodyPr/>
          <a:lstStyle/>
          <a:p>
            <a:fld id="{94A3F837-7400-430F-894E-A21D29BE8867}" type="slidenum">
              <a:rPr lang="en-GB" smtClean="0"/>
              <a:t>‹Nr.›</a:t>
            </a:fld>
            <a:endParaRPr lang="en-GB"/>
          </a:p>
        </p:txBody>
      </p:sp>
    </p:spTree>
    <p:extLst>
      <p:ext uri="{BB962C8B-B14F-4D97-AF65-F5344CB8AC3E}">
        <p14:creationId xmlns:p14="http://schemas.microsoft.com/office/powerpoint/2010/main" val="17269180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8A4D8F0-AC6B-EBEE-7840-7910F70C87DC}"/>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en-GB"/>
          </a:p>
        </p:txBody>
      </p:sp>
      <p:sp>
        <p:nvSpPr>
          <p:cNvPr id="3" name="Textplatzhalter 2">
            <a:extLst>
              <a:ext uri="{FF2B5EF4-FFF2-40B4-BE49-F238E27FC236}">
                <a16:creationId xmlns:a16="http://schemas.microsoft.com/office/drawing/2014/main" id="{185AE7ED-3138-5013-A467-39C48438F7F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6298DD37-CFF5-3419-7960-AAC7FC745100}"/>
              </a:ext>
            </a:extLst>
          </p:cNvPr>
          <p:cNvSpPr>
            <a:spLocks noGrp="1"/>
          </p:cNvSpPr>
          <p:nvPr>
            <p:ph type="dt" sz="half" idx="10"/>
          </p:nvPr>
        </p:nvSpPr>
        <p:spPr/>
        <p:txBody>
          <a:bodyPr/>
          <a:lstStyle/>
          <a:p>
            <a:fld id="{5C9CAA3B-708C-40F7-8F3B-AD4A06AD8D72}" type="datetimeFigureOut">
              <a:rPr lang="en-GB" smtClean="0"/>
              <a:t>09/12/2025</a:t>
            </a:fld>
            <a:endParaRPr lang="en-GB"/>
          </a:p>
        </p:txBody>
      </p:sp>
      <p:sp>
        <p:nvSpPr>
          <p:cNvPr id="5" name="Fußzeilenplatzhalter 4">
            <a:extLst>
              <a:ext uri="{FF2B5EF4-FFF2-40B4-BE49-F238E27FC236}">
                <a16:creationId xmlns:a16="http://schemas.microsoft.com/office/drawing/2014/main" id="{6079D170-6124-9563-F40D-6FF326D9E4B7}"/>
              </a:ext>
            </a:extLst>
          </p:cNvPr>
          <p:cNvSpPr>
            <a:spLocks noGrp="1"/>
          </p:cNvSpPr>
          <p:nvPr>
            <p:ph type="ftr" sz="quarter" idx="11"/>
          </p:nvPr>
        </p:nvSpPr>
        <p:spPr/>
        <p:txBody>
          <a:bodyPr/>
          <a:lstStyle/>
          <a:p>
            <a:endParaRPr lang="en-GB"/>
          </a:p>
        </p:txBody>
      </p:sp>
      <p:sp>
        <p:nvSpPr>
          <p:cNvPr id="6" name="Foliennummernplatzhalter 5">
            <a:extLst>
              <a:ext uri="{FF2B5EF4-FFF2-40B4-BE49-F238E27FC236}">
                <a16:creationId xmlns:a16="http://schemas.microsoft.com/office/drawing/2014/main" id="{011B1BBD-F081-10EB-BE8D-5DBF89AF9549}"/>
              </a:ext>
            </a:extLst>
          </p:cNvPr>
          <p:cNvSpPr>
            <a:spLocks noGrp="1"/>
          </p:cNvSpPr>
          <p:nvPr>
            <p:ph type="sldNum" sz="quarter" idx="12"/>
          </p:nvPr>
        </p:nvSpPr>
        <p:spPr/>
        <p:txBody>
          <a:bodyPr/>
          <a:lstStyle/>
          <a:p>
            <a:fld id="{94A3F837-7400-430F-894E-A21D29BE8867}" type="slidenum">
              <a:rPr lang="en-GB" smtClean="0"/>
              <a:t>‹Nr.›</a:t>
            </a:fld>
            <a:endParaRPr lang="en-GB"/>
          </a:p>
        </p:txBody>
      </p:sp>
    </p:spTree>
    <p:extLst>
      <p:ext uri="{BB962C8B-B14F-4D97-AF65-F5344CB8AC3E}">
        <p14:creationId xmlns:p14="http://schemas.microsoft.com/office/powerpoint/2010/main" val="4122469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678983F-5E3D-FCF7-152C-ADA6FAABF1F4}"/>
              </a:ext>
            </a:extLst>
          </p:cNvPr>
          <p:cNvSpPr>
            <a:spLocks noGrp="1"/>
          </p:cNvSpPr>
          <p:nvPr>
            <p:ph type="title"/>
          </p:nvPr>
        </p:nvSpPr>
        <p:spPr/>
        <p:txBody>
          <a:bodyPr/>
          <a:lstStyle/>
          <a:p>
            <a:r>
              <a:rPr lang="de-DE"/>
              <a:t>Mastertitelformat bearbeiten</a:t>
            </a:r>
            <a:endParaRPr lang="en-GB"/>
          </a:p>
        </p:txBody>
      </p:sp>
      <p:sp>
        <p:nvSpPr>
          <p:cNvPr id="3" name="Inhaltsplatzhalter 2">
            <a:extLst>
              <a:ext uri="{FF2B5EF4-FFF2-40B4-BE49-F238E27FC236}">
                <a16:creationId xmlns:a16="http://schemas.microsoft.com/office/drawing/2014/main" id="{ACD69BC5-2F5C-4947-FE20-1A2DA24C28A6}"/>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Inhaltsplatzhalter 3">
            <a:extLst>
              <a:ext uri="{FF2B5EF4-FFF2-40B4-BE49-F238E27FC236}">
                <a16:creationId xmlns:a16="http://schemas.microsoft.com/office/drawing/2014/main" id="{D4EB15FC-0155-E07F-E55C-B63C828012B4}"/>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5" name="Datumsplatzhalter 4">
            <a:extLst>
              <a:ext uri="{FF2B5EF4-FFF2-40B4-BE49-F238E27FC236}">
                <a16:creationId xmlns:a16="http://schemas.microsoft.com/office/drawing/2014/main" id="{C2AF551A-F37E-B6E7-5EFD-ABE80971CCC9}"/>
              </a:ext>
            </a:extLst>
          </p:cNvPr>
          <p:cNvSpPr>
            <a:spLocks noGrp="1"/>
          </p:cNvSpPr>
          <p:nvPr>
            <p:ph type="dt" sz="half" idx="10"/>
          </p:nvPr>
        </p:nvSpPr>
        <p:spPr/>
        <p:txBody>
          <a:bodyPr/>
          <a:lstStyle/>
          <a:p>
            <a:fld id="{5C9CAA3B-708C-40F7-8F3B-AD4A06AD8D72}" type="datetimeFigureOut">
              <a:rPr lang="en-GB" smtClean="0"/>
              <a:t>09/12/2025</a:t>
            </a:fld>
            <a:endParaRPr lang="en-GB"/>
          </a:p>
        </p:txBody>
      </p:sp>
      <p:sp>
        <p:nvSpPr>
          <p:cNvPr id="6" name="Fußzeilenplatzhalter 5">
            <a:extLst>
              <a:ext uri="{FF2B5EF4-FFF2-40B4-BE49-F238E27FC236}">
                <a16:creationId xmlns:a16="http://schemas.microsoft.com/office/drawing/2014/main" id="{94AA8A47-165A-CFEF-80E4-A7E4E57DB208}"/>
              </a:ext>
            </a:extLst>
          </p:cNvPr>
          <p:cNvSpPr>
            <a:spLocks noGrp="1"/>
          </p:cNvSpPr>
          <p:nvPr>
            <p:ph type="ftr" sz="quarter" idx="11"/>
          </p:nvPr>
        </p:nvSpPr>
        <p:spPr/>
        <p:txBody>
          <a:bodyPr/>
          <a:lstStyle/>
          <a:p>
            <a:endParaRPr lang="en-GB"/>
          </a:p>
        </p:txBody>
      </p:sp>
      <p:sp>
        <p:nvSpPr>
          <p:cNvPr id="7" name="Foliennummernplatzhalter 6">
            <a:extLst>
              <a:ext uri="{FF2B5EF4-FFF2-40B4-BE49-F238E27FC236}">
                <a16:creationId xmlns:a16="http://schemas.microsoft.com/office/drawing/2014/main" id="{8F11159B-0BB8-E6A6-1A2A-F3E35C1F74EA}"/>
              </a:ext>
            </a:extLst>
          </p:cNvPr>
          <p:cNvSpPr>
            <a:spLocks noGrp="1"/>
          </p:cNvSpPr>
          <p:nvPr>
            <p:ph type="sldNum" sz="quarter" idx="12"/>
          </p:nvPr>
        </p:nvSpPr>
        <p:spPr/>
        <p:txBody>
          <a:bodyPr/>
          <a:lstStyle/>
          <a:p>
            <a:fld id="{94A3F837-7400-430F-894E-A21D29BE8867}" type="slidenum">
              <a:rPr lang="en-GB" smtClean="0"/>
              <a:t>‹Nr.›</a:t>
            </a:fld>
            <a:endParaRPr lang="en-GB"/>
          </a:p>
        </p:txBody>
      </p:sp>
    </p:spTree>
    <p:extLst>
      <p:ext uri="{BB962C8B-B14F-4D97-AF65-F5344CB8AC3E}">
        <p14:creationId xmlns:p14="http://schemas.microsoft.com/office/powerpoint/2010/main" val="21433986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4F50344-102A-30DA-4B78-BA185D1C3924}"/>
              </a:ext>
            </a:extLst>
          </p:cNvPr>
          <p:cNvSpPr>
            <a:spLocks noGrp="1"/>
          </p:cNvSpPr>
          <p:nvPr>
            <p:ph type="title"/>
          </p:nvPr>
        </p:nvSpPr>
        <p:spPr>
          <a:xfrm>
            <a:off x="839788" y="365125"/>
            <a:ext cx="10515600" cy="1325563"/>
          </a:xfrm>
        </p:spPr>
        <p:txBody>
          <a:bodyPr/>
          <a:lstStyle/>
          <a:p>
            <a:r>
              <a:rPr lang="de-DE"/>
              <a:t>Mastertitelformat bearbeiten</a:t>
            </a:r>
            <a:endParaRPr lang="en-GB"/>
          </a:p>
        </p:txBody>
      </p:sp>
      <p:sp>
        <p:nvSpPr>
          <p:cNvPr id="3" name="Textplatzhalter 2">
            <a:extLst>
              <a:ext uri="{FF2B5EF4-FFF2-40B4-BE49-F238E27FC236}">
                <a16:creationId xmlns:a16="http://schemas.microsoft.com/office/drawing/2014/main" id="{18DA09D6-26B5-54A2-8B2B-E981B503C8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BC8E4C1D-4005-A416-20D5-5F40AF3829F7}"/>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5" name="Textplatzhalter 4">
            <a:extLst>
              <a:ext uri="{FF2B5EF4-FFF2-40B4-BE49-F238E27FC236}">
                <a16:creationId xmlns:a16="http://schemas.microsoft.com/office/drawing/2014/main" id="{0D7E9E80-CDCA-00F1-CA65-5F62BBD54B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8F892011-F7DA-CC92-6D91-C489481B21B0}"/>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7" name="Datumsplatzhalter 6">
            <a:extLst>
              <a:ext uri="{FF2B5EF4-FFF2-40B4-BE49-F238E27FC236}">
                <a16:creationId xmlns:a16="http://schemas.microsoft.com/office/drawing/2014/main" id="{9F3CD0C7-B451-2C72-1840-C116BDD01A51}"/>
              </a:ext>
            </a:extLst>
          </p:cNvPr>
          <p:cNvSpPr>
            <a:spLocks noGrp="1"/>
          </p:cNvSpPr>
          <p:nvPr>
            <p:ph type="dt" sz="half" idx="10"/>
          </p:nvPr>
        </p:nvSpPr>
        <p:spPr/>
        <p:txBody>
          <a:bodyPr/>
          <a:lstStyle/>
          <a:p>
            <a:fld id="{5C9CAA3B-708C-40F7-8F3B-AD4A06AD8D72}" type="datetimeFigureOut">
              <a:rPr lang="en-GB" smtClean="0"/>
              <a:t>09/12/2025</a:t>
            </a:fld>
            <a:endParaRPr lang="en-GB"/>
          </a:p>
        </p:txBody>
      </p:sp>
      <p:sp>
        <p:nvSpPr>
          <p:cNvPr id="8" name="Fußzeilenplatzhalter 7">
            <a:extLst>
              <a:ext uri="{FF2B5EF4-FFF2-40B4-BE49-F238E27FC236}">
                <a16:creationId xmlns:a16="http://schemas.microsoft.com/office/drawing/2014/main" id="{AFF2E5A0-5EBE-06FA-0A06-1C400C969DB9}"/>
              </a:ext>
            </a:extLst>
          </p:cNvPr>
          <p:cNvSpPr>
            <a:spLocks noGrp="1"/>
          </p:cNvSpPr>
          <p:nvPr>
            <p:ph type="ftr" sz="quarter" idx="11"/>
          </p:nvPr>
        </p:nvSpPr>
        <p:spPr/>
        <p:txBody>
          <a:bodyPr/>
          <a:lstStyle/>
          <a:p>
            <a:endParaRPr lang="en-GB"/>
          </a:p>
        </p:txBody>
      </p:sp>
      <p:sp>
        <p:nvSpPr>
          <p:cNvPr id="9" name="Foliennummernplatzhalter 8">
            <a:extLst>
              <a:ext uri="{FF2B5EF4-FFF2-40B4-BE49-F238E27FC236}">
                <a16:creationId xmlns:a16="http://schemas.microsoft.com/office/drawing/2014/main" id="{C323FF66-59D7-3E9F-F162-61922CBCC21C}"/>
              </a:ext>
            </a:extLst>
          </p:cNvPr>
          <p:cNvSpPr>
            <a:spLocks noGrp="1"/>
          </p:cNvSpPr>
          <p:nvPr>
            <p:ph type="sldNum" sz="quarter" idx="12"/>
          </p:nvPr>
        </p:nvSpPr>
        <p:spPr/>
        <p:txBody>
          <a:bodyPr/>
          <a:lstStyle/>
          <a:p>
            <a:fld id="{94A3F837-7400-430F-894E-A21D29BE8867}" type="slidenum">
              <a:rPr lang="en-GB" smtClean="0"/>
              <a:t>‹Nr.›</a:t>
            </a:fld>
            <a:endParaRPr lang="en-GB"/>
          </a:p>
        </p:txBody>
      </p:sp>
    </p:spTree>
    <p:extLst>
      <p:ext uri="{BB962C8B-B14F-4D97-AF65-F5344CB8AC3E}">
        <p14:creationId xmlns:p14="http://schemas.microsoft.com/office/powerpoint/2010/main" val="3249200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FF4D3F1-155D-FCC6-D069-BA9CE1C609E8}"/>
              </a:ext>
            </a:extLst>
          </p:cNvPr>
          <p:cNvSpPr>
            <a:spLocks noGrp="1"/>
          </p:cNvSpPr>
          <p:nvPr>
            <p:ph type="title"/>
          </p:nvPr>
        </p:nvSpPr>
        <p:spPr/>
        <p:txBody>
          <a:bodyPr/>
          <a:lstStyle/>
          <a:p>
            <a:r>
              <a:rPr lang="de-DE"/>
              <a:t>Mastertitelformat bearbeiten</a:t>
            </a:r>
            <a:endParaRPr lang="en-GB"/>
          </a:p>
        </p:txBody>
      </p:sp>
      <p:sp>
        <p:nvSpPr>
          <p:cNvPr id="3" name="Datumsplatzhalter 2">
            <a:extLst>
              <a:ext uri="{FF2B5EF4-FFF2-40B4-BE49-F238E27FC236}">
                <a16:creationId xmlns:a16="http://schemas.microsoft.com/office/drawing/2014/main" id="{B356531F-4195-5F25-3955-408E31B8B494}"/>
              </a:ext>
            </a:extLst>
          </p:cNvPr>
          <p:cNvSpPr>
            <a:spLocks noGrp="1"/>
          </p:cNvSpPr>
          <p:nvPr>
            <p:ph type="dt" sz="half" idx="10"/>
          </p:nvPr>
        </p:nvSpPr>
        <p:spPr/>
        <p:txBody>
          <a:bodyPr/>
          <a:lstStyle/>
          <a:p>
            <a:fld id="{5C9CAA3B-708C-40F7-8F3B-AD4A06AD8D72}" type="datetimeFigureOut">
              <a:rPr lang="en-GB" smtClean="0"/>
              <a:t>09/12/2025</a:t>
            </a:fld>
            <a:endParaRPr lang="en-GB"/>
          </a:p>
        </p:txBody>
      </p:sp>
      <p:sp>
        <p:nvSpPr>
          <p:cNvPr id="4" name="Fußzeilenplatzhalter 3">
            <a:extLst>
              <a:ext uri="{FF2B5EF4-FFF2-40B4-BE49-F238E27FC236}">
                <a16:creationId xmlns:a16="http://schemas.microsoft.com/office/drawing/2014/main" id="{3CD506FA-7B01-2DAF-4DBB-D17CC4615CF6}"/>
              </a:ext>
            </a:extLst>
          </p:cNvPr>
          <p:cNvSpPr>
            <a:spLocks noGrp="1"/>
          </p:cNvSpPr>
          <p:nvPr>
            <p:ph type="ftr" sz="quarter" idx="11"/>
          </p:nvPr>
        </p:nvSpPr>
        <p:spPr/>
        <p:txBody>
          <a:bodyPr/>
          <a:lstStyle/>
          <a:p>
            <a:endParaRPr lang="en-GB"/>
          </a:p>
        </p:txBody>
      </p:sp>
      <p:sp>
        <p:nvSpPr>
          <p:cNvPr id="5" name="Foliennummernplatzhalter 4">
            <a:extLst>
              <a:ext uri="{FF2B5EF4-FFF2-40B4-BE49-F238E27FC236}">
                <a16:creationId xmlns:a16="http://schemas.microsoft.com/office/drawing/2014/main" id="{0E17D73A-2C39-E1A8-7129-D1D3A951306F}"/>
              </a:ext>
            </a:extLst>
          </p:cNvPr>
          <p:cNvSpPr>
            <a:spLocks noGrp="1"/>
          </p:cNvSpPr>
          <p:nvPr>
            <p:ph type="sldNum" sz="quarter" idx="12"/>
          </p:nvPr>
        </p:nvSpPr>
        <p:spPr/>
        <p:txBody>
          <a:bodyPr/>
          <a:lstStyle/>
          <a:p>
            <a:fld id="{94A3F837-7400-430F-894E-A21D29BE8867}" type="slidenum">
              <a:rPr lang="en-GB" smtClean="0"/>
              <a:t>‹Nr.›</a:t>
            </a:fld>
            <a:endParaRPr lang="en-GB"/>
          </a:p>
        </p:txBody>
      </p:sp>
    </p:spTree>
    <p:extLst>
      <p:ext uri="{BB962C8B-B14F-4D97-AF65-F5344CB8AC3E}">
        <p14:creationId xmlns:p14="http://schemas.microsoft.com/office/powerpoint/2010/main" val="3358393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89EABE2E-3F22-604A-3B19-5A9998D7241D}"/>
              </a:ext>
            </a:extLst>
          </p:cNvPr>
          <p:cNvSpPr>
            <a:spLocks noGrp="1"/>
          </p:cNvSpPr>
          <p:nvPr>
            <p:ph type="dt" sz="half" idx="10"/>
          </p:nvPr>
        </p:nvSpPr>
        <p:spPr/>
        <p:txBody>
          <a:bodyPr/>
          <a:lstStyle/>
          <a:p>
            <a:fld id="{5C9CAA3B-708C-40F7-8F3B-AD4A06AD8D72}" type="datetimeFigureOut">
              <a:rPr lang="en-GB" smtClean="0"/>
              <a:t>09/12/2025</a:t>
            </a:fld>
            <a:endParaRPr lang="en-GB"/>
          </a:p>
        </p:txBody>
      </p:sp>
      <p:sp>
        <p:nvSpPr>
          <p:cNvPr id="3" name="Fußzeilenplatzhalter 2">
            <a:extLst>
              <a:ext uri="{FF2B5EF4-FFF2-40B4-BE49-F238E27FC236}">
                <a16:creationId xmlns:a16="http://schemas.microsoft.com/office/drawing/2014/main" id="{917E37DA-00D7-318B-C1EB-DC3A737C256B}"/>
              </a:ext>
            </a:extLst>
          </p:cNvPr>
          <p:cNvSpPr>
            <a:spLocks noGrp="1"/>
          </p:cNvSpPr>
          <p:nvPr>
            <p:ph type="ftr" sz="quarter" idx="11"/>
          </p:nvPr>
        </p:nvSpPr>
        <p:spPr/>
        <p:txBody>
          <a:bodyPr/>
          <a:lstStyle/>
          <a:p>
            <a:endParaRPr lang="en-GB"/>
          </a:p>
        </p:txBody>
      </p:sp>
      <p:sp>
        <p:nvSpPr>
          <p:cNvPr id="4" name="Foliennummernplatzhalter 3">
            <a:extLst>
              <a:ext uri="{FF2B5EF4-FFF2-40B4-BE49-F238E27FC236}">
                <a16:creationId xmlns:a16="http://schemas.microsoft.com/office/drawing/2014/main" id="{D275CFA0-706D-4373-F23E-70269161BAA0}"/>
              </a:ext>
            </a:extLst>
          </p:cNvPr>
          <p:cNvSpPr>
            <a:spLocks noGrp="1"/>
          </p:cNvSpPr>
          <p:nvPr>
            <p:ph type="sldNum" sz="quarter" idx="12"/>
          </p:nvPr>
        </p:nvSpPr>
        <p:spPr/>
        <p:txBody>
          <a:bodyPr/>
          <a:lstStyle/>
          <a:p>
            <a:fld id="{94A3F837-7400-430F-894E-A21D29BE8867}" type="slidenum">
              <a:rPr lang="en-GB" smtClean="0"/>
              <a:t>‹Nr.›</a:t>
            </a:fld>
            <a:endParaRPr lang="en-GB"/>
          </a:p>
        </p:txBody>
      </p:sp>
    </p:spTree>
    <p:extLst>
      <p:ext uri="{BB962C8B-B14F-4D97-AF65-F5344CB8AC3E}">
        <p14:creationId xmlns:p14="http://schemas.microsoft.com/office/powerpoint/2010/main" val="22559466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A5A4130-7902-A357-5521-203A0891217F}"/>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GB"/>
          </a:p>
        </p:txBody>
      </p:sp>
      <p:sp>
        <p:nvSpPr>
          <p:cNvPr id="3" name="Inhaltsplatzhalter 2">
            <a:extLst>
              <a:ext uri="{FF2B5EF4-FFF2-40B4-BE49-F238E27FC236}">
                <a16:creationId xmlns:a16="http://schemas.microsoft.com/office/drawing/2014/main" id="{E68CC8AD-A2EE-8F7B-DEC5-F62503E8FB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Textplatzhalter 3">
            <a:extLst>
              <a:ext uri="{FF2B5EF4-FFF2-40B4-BE49-F238E27FC236}">
                <a16:creationId xmlns:a16="http://schemas.microsoft.com/office/drawing/2014/main" id="{D2894827-C215-A54E-0E9F-D113198391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82025A96-60B7-8F90-2A75-5768B6C3567E}"/>
              </a:ext>
            </a:extLst>
          </p:cNvPr>
          <p:cNvSpPr>
            <a:spLocks noGrp="1"/>
          </p:cNvSpPr>
          <p:nvPr>
            <p:ph type="dt" sz="half" idx="10"/>
          </p:nvPr>
        </p:nvSpPr>
        <p:spPr/>
        <p:txBody>
          <a:bodyPr/>
          <a:lstStyle/>
          <a:p>
            <a:fld id="{5C9CAA3B-708C-40F7-8F3B-AD4A06AD8D72}" type="datetimeFigureOut">
              <a:rPr lang="en-GB" smtClean="0"/>
              <a:t>09/12/2025</a:t>
            </a:fld>
            <a:endParaRPr lang="en-GB"/>
          </a:p>
        </p:txBody>
      </p:sp>
      <p:sp>
        <p:nvSpPr>
          <p:cNvPr id="6" name="Fußzeilenplatzhalter 5">
            <a:extLst>
              <a:ext uri="{FF2B5EF4-FFF2-40B4-BE49-F238E27FC236}">
                <a16:creationId xmlns:a16="http://schemas.microsoft.com/office/drawing/2014/main" id="{FC627840-91C4-8CFA-D0BE-9839264BAA0A}"/>
              </a:ext>
            </a:extLst>
          </p:cNvPr>
          <p:cNvSpPr>
            <a:spLocks noGrp="1"/>
          </p:cNvSpPr>
          <p:nvPr>
            <p:ph type="ftr" sz="quarter" idx="11"/>
          </p:nvPr>
        </p:nvSpPr>
        <p:spPr/>
        <p:txBody>
          <a:bodyPr/>
          <a:lstStyle/>
          <a:p>
            <a:endParaRPr lang="en-GB"/>
          </a:p>
        </p:txBody>
      </p:sp>
      <p:sp>
        <p:nvSpPr>
          <p:cNvPr id="7" name="Foliennummernplatzhalter 6">
            <a:extLst>
              <a:ext uri="{FF2B5EF4-FFF2-40B4-BE49-F238E27FC236}">
                <a16:creationId xmlns:a16="http://schemas.microsoft.com/office/drawing/2014/main" id="{9691773B-F05B-0BC9-B2E7-1CAF609583D9}"/>
              </a:ext>
            </a:extLst>
          </p:cNvPr>
          <p:cNvSpPr>
            <a:spLocks noGrp="1"/>
          </p:cNvSpPr>
          <p:nvPr>
            <p:ph type="sldNum" sz="quarter" idx="12"/>
          </p:nvPr>
        </p:nvSpPr>
        <p:spPr/>
        <p:txBody>
          <a:bodyPr/>
          <a:lstStyle/>
          <a:p>
            <a:fld id="{94A3F837-7400-430F-894E-A21D29BE8867}" type="slidenum">
              <a:rPr lang="en-GB" smtClean="0"/>
              <a:t>‹Nr.›</a:t>
            </a:fld>
            <a:endParaRPr lang="en-GB"/>
          </a:p>
        </p:txBody>
      </p:sp>
    </p:spTree>
    <p:extLst>
      <p:ext uri="{BB962C8B-B14F-4D97-AF65-F5344CB8AC3E}">
        <p14:creationId xmlns:p14="http://schemas.microsoft.com/office/powerpoint/2010/main" val="1520740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DFEB81-73E8-30D9-5BA1-2B3BEEEE06BF}"/>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GB"/>
          </a:p>
        </p:txBody>
      </p:sp>
      <p:sp>
        <p:nvSpPr>
          <p:cNvPr id="3" name="Bildplatzhalter 2">
            <a:extLst>
              <a:ext uri="{FF2B5EF4-FFF2-40B4-BE49-F238E27FC236}">
                <a16:creationId xmlns:a16="http://schemas.microsoft.com/office/drawing/2014/main" id="{30AD4158-CA24-6087-6631-014CFD05FA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platzhalter 3">
            <a:extLst>
              <a:ext uri="{FF2B5EF4-FFF2-40B4-BE49-F238E27FC236}">
                <a16:creationId xmlns:a16="http://schemas.microsoft.com/office/drawing/2014/main" id="{7A510AE2-7EC0-B380-44F9-3030C354CC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BB82EBA5-EBA1-1F47-282B-8D37A5C72C06}"/>
              </a:ext>
            </a:extLst>
          </p:cNvPr>
          <p:cNvSpPr>
            <a:spLocks noGrp="1"/>
          </p:cNvSpPr>
          <p:nvPr>
            <p:ph type="dt" sz="half" idx="10"/>
          </p:nvPr>
        </p:nvSpPr>
        <p:spPr/>
        <p:txBody>
          <a:bodyPr/>
          <a:lstStyle/>
          <a:p>
            <a:fld id="{5C9CAA3B-708C-40F7-8F3B-AD4A06AD8D72}" type="datetimeFigureOut">
              <a:rPr lang="en-GB" smtClean="0"/>
              <a:t>09/12/2025</a:t>
            </a:fld>
            <a:endParaRPr lang="en-GB"/>
          </a:p>
        </p:txBody>
      </p:sp>
      <p:sp>
        <p:nvSpPr>
          <p:cNvPr id="6" name="Fußzeilenplatzhalter 5">
            <a:extLst>
              <a:ext uri="{FF2B5EF4-FFF2-40B4-BE49-F238E27FC236}">
                <a16:creationId xmlns:a16="http://schemas.microsoft.com/office/drawing/2014/main" id="{CDF94A29-8B44-884E-4141-7DB2D3B2EC7E}"/>
              </a:ext>
            </a:extLst>
          </p:cNvPr>
          <p:cNvSpPr>
            <a:spLocks noGrp="1"/>
          </p:cNvSpPr>
          <p:nvPr>
            <p:ph type="ftr" sz="quarter" idx="11"/>
          </p:nvPr>
        </p:nvSpPr>
        <p:spPr/>
        <p:txBody>
          <a:bodyPr/>
          <a:lstStyle/>
          <a:p>
            <a:endParaRPr lang="en-GB"/>
          </a:p>
        </p:txBody>
      </p:sp>
      <p:sp>
        <p:nvSpPr>
          <p:cNvPr id="7" name="Foliennummernplatzhalter 6">
            <a:extLst>
              <a:ext uri="{FF2B5EF4-FFF2-40B4-BE49-F238E27FC236}">
                <a16:creationId xmlns:a16="http://schemas.microsoft.com/office/drawing/2014/main" id="{4BDB8E37-A618-0839-42DD-F71749FF0BB7}"/>
              </a:ext>
            </a:extLst>
          </p:cNvPr>
          <p:cNvSpPr>
            <a:spLocks noGrp="1"/>
          </p:cNvSpPr>
          <p:nvPr>
            <p:ph type="sldNum" sz="quarter" idx="12"/>
          </p:nvPr>
        </p:nvSpPr>
        <p:spPr/>
        <p:txBody>
          <a:bodyPr/>
          <a:lstStyle/>
          <a:p>
            <a:fld id="{94A3F837-7400-430F-894E-A21D29BE8867}" type="slidenum">
              <a:rPr lang="en-GB" smtClean="0"/>
              <a:t>‹Nr.›</a:t>
            </a:fld>
            <a:endParaRPr lang="en-GB"/>
          </a:p>
        </p:txBody>
      </p:sp>
    </p:spTree>
    <p:extLst>
      <p:ext uri="{BB962C8B-B14F-4D97-AF65-F5344CB8AC3E}">
        <p14:creationId xmlns:p14="http://schemas.microsoft.com/office/powerpoint/2010/main" val="19786771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E6409AC-BD7D-BF35-4B5A-9ABE5A7A3D3E}"/>
              </a:ext>
            </a:extLst>
          </p:cNvPr>
          <p:cNvSpPr>
            <a:spLocks noGrp="1"/>
          </p:cNvSpPr>
          <p:nvPr>
            <p:ph type="title"/>
          </p:nvPr>
        </p:nvSpPr>
        <p:spPr/>
        <p:txBody>
          <a:bodyPr/>
          <a:lstStyle/>
          <a:p>
            <a:r>
              <a:rPr lang="de-DE"/>
              <a:t>Mastertitelformat bearbeiten</a:t>
            </a:r>
            <a:endParaRPr lang="en-GB"/>
          </a:p>
        </p:txBody>
      </p:sp>
      <p:sp>
        <p:nvSpPr>
          <p:cNvPr id="3" name="Vertikaler Textplatzhalter 2">
            <a:extLst>
              <a:ext uri="{FF2B5EF4-FFF2-40B4-BE49-F238E27FC236}">
                <a16:creationId xmlns:a16="http://schemas.microsoft.com/office/drawing/2014/main" id="{1FD57E3E-F2F8-C94E-2DA4-E9D7012DDAE5}"/>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a:extLst>
              <a:ext uri="{FF2B5EF4-FFF2-40B4-BE49-F238E27FC236}">
                <a16:creationId xmlns:a16="http://schemas.microsoft.com/office/drawing/2014/main" id="{6D5FF273-9AA4-EAFB-3AD1-4EA9E4C6F2B5}"/>
              </a:ext>
            </a:extLst>
          </p:cNvPr>
          <p:cNvSpPr>
            <a:spLocks noGrp="1"/>
          </p:cNvSpPr>
          <p:nvPr>
            <p:ph type="dt" sz="half" idx="10"/>
          </p:nvPr>
        </p:nvSpPr>
        <p:spPr/>
        <p:txBody>
          <a:bodyPr/>
          <a:lstStyle/>
          <a:p>
            <a:fld id="{5C9CAA3B-708C-40F7-8F3B-AD4A06AD8D72}" type="datetimeFigureOut">
              <a:rPr lang="en-GB" smtClean="0"/>
              <a:t>09/12/2025</a:t>
            </a:fld>
            <a:endParaRPr lang="en-GB"/>
          </a:p>
        </p:txBody>
      </p:sp>
      <p:sp>
        <p:nvSpPr>
          <p:cNvPr id="5" name="Fußzeilenplatzhalter 4">
            <a:extLst>
              <a:ext uri="{FF2B5EF4-FFF2-40B4-BE49-F238E27FC236}">
                <a16:creationId xmlns:a16="http://schemas.microsoft.com/office/drawing/2014/main" id="{2C9179E3-FD6E-CA39-6D5B-D4244E03EF00}"/>
              </a:ext>
            </a:extLst>
          </p:cNvPr>
          <p:cNvSpPr>
            <a:spLocks noGrp="1"/>
          </p:cNvSpPr>
          <p:nvPr>
            <p:ph type="ftr" sz="quarter" idx="11"/>
          </p:nvPr>
        </p:nvSpPr>
        <p:spPr/>
        <p:txBody>
          <a:bodyPr/>
          <a:lstStyle/>
          <a:p>
            <a:endParaRPr lang="en-GB"/>
          </a:p>
        </p:txBody>
      </p:sp>
      <p:sp>
        <p:nvSpPr>
          <p:cNvPr id="6" name="Foliennummernplatzhalter 5">
            <a:extLst>
              <a:ext uri="{FF2B5EF4-FFF2-40B4-BE49-F238E27FC236}">
                <a16:creationId xmlns:a16="http://schemas.microsoft.com/office/drawing/2014/main" id="{F2494025-030A-F9E4-AC28-5D3ED2848F98}"/>
              </a:ext>
            </a:extLst>
          </p:cNvPr>
          <p:cNvSpPr>
            <a:spLocks noGrp="1"/>
          </p:cNvSpPr>
          <p:nvPr>
            <p:ph type="sldNum" sz="quarter" idx="12"/>
          </p:nvPr>
        </p:nvSpPr>
        <p:spPr/>
        <p:txBody>
          <a:bodyPr/>
          <a:lstStyle/>
          <a:p>
            <a:fld id="{94A3F837-7400-430F-894E-A21D29BE8867}" type="slidenum">
              <a:rPr lang="en-GB" smtClean="0"/>
              <a:t>‹Nr.›</a:t>
            </a:fld>
            <a:endParaRPr lang="en-GB"/>
          </a:p>
        </p:txBody>
      </p:sp>
    </p:spTree>
    <p:extLst>
      <p:ext uri="{BB962C8B-B14F-4D97-AF65-F5344CB8AC3E}">
        <p14:creationId xmlns:p14="http://schemas.microsoft.com/office/powerpoint/2010/main" val="2868431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C70476B4-8D7B-53D1-22D7-A4CCFB254FD9}"/>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en-GB"/>
          </a:p>
        </p:txBody>
      </p:sp>
      <p:sp>
        <p:nvSpPr>
          <p:cNvPr id="3" name="Vertikaler Textplatzhalter 2">
            <a:extLst>
              <a:ext uri="{FF2B5EF4-FFF2-40B4-BE49-F238E27FC236}">
                <a16:creationId xmlns:a16="http://schemas.microsoft.com/office/drawing/2014/main" id="{DEEF9D05-7299-1FA9-645C-DBCD9BDFAA72}"/>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a:extLst>
              <a:ext uri="{FF2B5EF4-FFF2-40B4-BE49-F238E27FC236}">
                <a16:creationId xmlns:a16="http://schemas.microsoft.com/office/drawing/2014/main" id="{1A2B4C5E-9A5B-2EFD-797A-B7419E449534}"/>
              </a:ext>
            </a:extLst>
          </p:cNvPr>
          <p:cNvSpPr>
            <a:spLocks noGrp="1"/>
          </p:cNvSpPr>
          <p:nvPr>
            <p:ph type="dt" sz="half" idx="10"/>
          </p:nvPr>
        </p:nvSpPr>
        <p:spPr/>
        <p:txBody>
          <a:bodyPr/>
          <a:lstStyle/>
          <a:p>
            <a:fld id="{5C9CAA3B-708C-40F7-8F3B-AD4A06AD8D72}" type="datetimeFigureOut">
              <a:rPr lang="en-GB" smtClean="0"/>
              <a:t>09/12/2025</a:t>
            </a:fld>
            <a:endParaRPr lang="en-GB"/>
          </a:p>
        </p:txBody>
      </p:sp>
      <p:sp>
        <p:nvSpPr>
          <p:cNvPr id="5" name="Fußzeilenplatzhalter 4">
            <a:extLst>
              <a:ext uri="{FF2B5EF4-FFF2-40B4-BE49-F238E27FC236}">
                <a16:creationId xmlns:a16="http://schemas.microsoft.com/office/drawing/2014/main" id="{DACFFF5A-C889-48CF-9768-EC3189ED5686}"/>
              </a:ext>
            </a:extLst>
          </p:cNvPr>
          <p:cNvSpPr>
            <a:spLocks noGrp="1"/>
          </p:cNvSpPr>
          <p:nvPr>
            <p:ph type="ftr" sz="quarter" idx="11"/>
          </p:nvPr>
        </p:nvSpPr>
        <p:spPr/>
        <p:txBody>
          <a:bodyPr/>
          <a:lstStyle/>
          <a:p>
            <a:endParaRPr lang="en-GB"/>
          </a:p>
        </p:txBody>
      </p:sp>
      <p:sp>
        <p:nvSpPr>
          <p:cNvPr id="6" name="Foliennummernplatzhalter 5">
            <a:extLst>
              <a:ext uri="{FF2B5EF4-FFF2-40B4-BE49-F238E27FC236}">
                <a16:creationId xmlns:a16="http://schemas.microsoft.com/office/drawing/2014/main" id="{A72140BA-3D41-9008-4DDF-456F78EF9EBB}"/>
              </a:ext>
            </a:extLst>
          </p:cNvPr>
          <p:cNvSpPr>
            <a:spLocks noGrp="1"/>
          </p:cNvSpPr>
          <p:nvPr>
            <p:ph type="sldNum" sz="quarter" idx="12"/>
          </p:nvPr>
        </p:nvSpPr>
        <p:spPr/>
        <p:txBody>
          <a:bodyPr/>
          <a:lstStyle/>
          <a:p>
            <a:fld id="{94A3F837-7400-430F-894E-A21D29BE8867}" type="slidenum">
              <a:rPr lang="en-GB" smtClean="0"/>
              <a:t>‹Nr.›</a:t>
            </a:fld>
            <a:endParaRPr lang="en-GB"/>
          </a:p>
        </p:txBody>
      </p:sp>
    </p:spTree>
    <p:extLst>
      <p:ext uri="{BB962C8B-B14F-4D97-AF65-F5344CB8AC3E}">
        <p14:creationId xmlns:p14="http://schemas.microsoft.com/office/powerpoint/2010/main" val="452640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F5CC535B-BCF5-256E-6A23-993D472B6E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en-GB"/>
          </a:p>
        </p:txBody>
      </p:sp>
      <p:sp>
        <p:nvSpPr>
          <p:cNvPr id="3" name="Textplatzhalter 2">
            <a:extLst>
              <a:ext uri="{FF2B5EF4-FFF2-40B4-BE49-F238E27FC236}">
                <a16:creationId xmlns:a16="http://schemas.microsoft.com/office/drawing/2014/main" id="{8D28525E-93FB-AF2E-ECBD-345D80F559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a:extLst>
              <a:ext uri="{FF2B5EF4-FFF2-40B4-BE49-F238E27FC236}">
                <a16:creationId xmlns:a16="http://schemas.microsoft.com/office/drawing/2014/main" id="{8C4B6490-08BF-F33A-A5E7-C449778CEC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C9CAA3B-708C-40F7-8F3B-AD4A06AD8D72}" type="datetimeFigureOut">
              <a:rPr lang="en-GB" smtClean="0"/>
              <a:t>09/12/2025</a:t>
            </a:fld>
            <a:endParaRPr lang="en-GB"/>
          </a:p>
        </p:txBody>
      </p:sp>
      <p:sp>
        <p:nvSpPr>
          <p:cNvPr id="5" name="Fußzeilenplatzhalter 4">
            <a:extLst>
              <a:ext uri="{FF2B5EF4-FFF2-40B4-BE49-F238E27FC236}">
                <a16:creationId xmlns:a16="http://schemas.microsoft.com/office/drawing/2014/main" id="{E04A6BAB-9741-EAF9-A7D7-F72482EF89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Foliennummernplatzhalter 5">
            <a:extLst>
              <a:ext uri="{FF2B5EF4-FFF2-40B4-BE49-F238E27FC236}">
                <a16:creationId xmlns:a16="http://schemas.microsoft.com/office/drawing/2014/main" id="{4D265AE9-4A09-F315-D00F-A5A2145CD6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4A3F837-7400-430F-894E-A21D29BE8867}" type="slidenum">
              <a:rPr lang="en-GB" smtClean="0"/>
              <a:t>‹Nr.›</a:t>
            </a:fld>
            <a:endParaRPr lang="en-GB"/>
          </a:p>
        </p:txBody>
      </p:sp>
    </p:spTree>
    <p:extLst>
      <p:ext uri="{BB962C8B-B14F-4D97-AF65-F5344CB8AC3E}">
        <p14:creationId xmlns:p14="http://schemas.microsoft.com/office/powerpoint/2010/main" val="40563017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9F49104-B3DE-02CC-7D54-50EF95843401}"/>
              </a:ext>
            </a:extLst>
          </p:cNvPr>
          <p:cNvSpPr/>
          <p:nvPr/>
        </p:nvSpPr>
        <p:spPr>
          <a:xfrm>
            <a:off x="0" y="2743200"/>
            <a:ext cx="12192000" cy="3025140"/>
          </a:xfrm>
          <a:prstGeom prst="rect">
            <a:avLst/>
          </a:prstGeom>
          <a:solidFill>
            <a:srgbClr val="3E69AC"/>
          </a:solidFill>
          <a:ln>
            <a:solidFill>
              <a:srgbClr val="3E69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el 1">
            <a:extLst>
              <a:ext uri="{FF2B5EF4-FFF2-40B4-BE49-F238E27FC236}">
                <a16:creationId xmlns:a16="http://schemas.microsoft.com/office/drawing/2014/main" id="{036B6A42-E205-D96B-B587-26E6F26D05C8}"/>
              </a:ext>
            </a:extLst>
          </p:cNvPr>
          <p:cNvSpPr>
            <a:spLocks noGrp="1"/>
          </p:cNvSpPr>
          <p:nvPr>
            <p:ph type="ctrTitle"/>
          </p:nvPr>
        </p:nvSpPr>
        <p:spPr>
          <a:xfrm>
            <a:off x="1524000" y="2052003"/>
            <a:ext cx="9144000" cy="2387600"/>
          </a:xfrm>
        </p:spPr>
        <p:txBody>
          <a:bodyPr>
            <a:normAutofit fontScale="90000"/>
          </a:bodyPr>
          <a:lstStyle/>
          <a:p>
            <a:r>
              <a:rPr lang="de-DE" sz="3100" dirty="0"/>
              <a:t>MK130 – </a:t>
            </a:r>
            <a:r>
              <a:rPr lang="de-DE" sz="3100" dirty="0" err="1"/>
              <a:t>Genetics</a:t>
            </a:r>
            <a:r>
              <a:rPr lang="de-DE" sz="3100" dirty="0"/>
              <a:t> </a:t>
            </a:r>
            <a:r>
              <a:rPr lang="de-DE" sz="3100" dirty="0" err="1"/>
              <a:t>of</a:t>
            </a:r>
            <a:r>
              <a:rPr lang="de-DE" sz="3100" dirty="0"/>
              <a:t> </a:t>
            </a:r>
            <a:r>
              <a:rPr lang="de-DE" sz="3100" dirty="0" err="1"/>
              <a:t>Crop</a:t>
            </a:r>
            <a:r>
              <a:rPr lang="de-DE" sz="3100" dirty="0"/>
              <a:t> </a:t>
            </a:r>
            <a:r>
              <a:rPr lang="de-DE" sz="3100" dirty="0" err="1"/>
              <a:t>Diversity</a:t>
            </a:r>
            <a:br>
              <a:rPr lang="de-DE" sz="3100" dirty="0"/>
            </a:br>
            <a:br>
              <a:rPr lang="de-DE" dirty="0"/>
            </a:br>
            <a:r>
              <a:rPr lang="de-DE" sz="5300" dirty="0" err="1">
                <a:solidFill>
                  <a:schemeClr val="bg1"/>
                </a:solidFill>
              </a:rPr>
              <a:t>Phenotypic</a:t>
            </a:r>
            <a:r>
              <a:rPr lang="de-DE" sz="5300" dirty="0">
                <a:solidFill>
                  <a:schemeClr val="bg1"/>
                </a:solidFill>
              </a:rPr>
              <a:t> and </a:t>
            </a:r>
            <a:r>
              <a:rPr lang="de-DE" sz="5300" dirty="0" err="1">
                <a:solidFill>
                  <a:schemeClr val="bg1"/>
                </a:solidFill>
              </a:rPr>
              <a:t>genotypic</a:t>
            </a:r>
            <a:r>
              <a:rPr lang="de-DE" sz="5300" dirty="0">
                <a:solidFill>
                  <a:schemeClr val="bg1"/>
                </a:solidFill>
              </a:rPr>
              <a:t> </a:t>
            </a:r>
            <a:r>
              <a:rPr lang="de-DE" sz="5300" dirty="0" err="1">
                <a:solidFill>
                  <a:schemeClr val="bg1"/>
                </a:solidFill>
              </a:rPr>
              <a:t>evaluation</a:t>
            </a:r>
            <a:r>
              <a:rPr lang="de-DE" sz="5300" dirty="0">
                <a:solidFill>
                  <a:schemeClr val="bg1"/>
                </a:solidFill>
              </a:rPr>
              <a:t> </a:t>
            </a:r>
            <a:r>
              <a:rPr lang="de-DE" sz="5300" dirty="0" err="1">
                <a:solidFill>
                  <a:schemeClr val="bg1"/>
                </a:solidFill>
              </a:rPr>
              <a:t>of</a:t>
            </a:r>
            <a:r>
              <a:rPr lang="de-DE" sz="5300" dirty="0">
                <a:solidFill>
                  <a:schemeClr val="bg1"/>
                </a:solidFill>
              </a:rPr>
              <a:t> </a:t>
            </a:r>
            <a:r>
              <a:rPr lang="de-DE" sz="5300" i="1" dirty="0">
                <a:solidFill>
                  <a:schemeClr val="bg1"/>
                </a:solidFill>
              </a:rPr>
              <a:t>B. napus </a:t>
            </a:r>
            <a:r>
              <a:rPr lang="de-DE" sz="5300" dirty="0" err="1">
                <a:solidFill>
                  <a:schemeClr val="bg1"/>
                </a:solidFill>
              </a:rPr>
              <a:t>accessions</a:t>
            </a:r>
            <a:endParaRPr lang="en-GB" sz="5300" dirty="0">
              <a:solidFill>
                <a:schemeClr val="bg1"/>
              </a:solidFill>
            </a:endParaRPr>
          </a:p>
        </p:txBody>
      </p:sp>
      <p:sp>
        <p:nvSpPr>
          <p:cNvPr id="3" name="Untertitel 2">
            <a:extLst>
              <a:ext uri="{FF2B5EF4-FFF2-40B4-BE49-F238E27FC236}">
                <a16:creationId xmlns:a16="http://schemas.microsoft.com/office/drawing/2014/main" id="{D1D657FE-2C46-281D-7F8F-4E25B4A53EA1}"/>
              </a:ext>
            </a:extLst>
          </p:cNvPr>
          <p:cNvSpPr>
            <a:spLocks noGrp="1"/>
          </p:cNvSpPr>
          <p:nvPr>
            <p:ph type="subTitle" idx="1"/>
          </p:nvPr>
        </p:nvSpPr>
        <p:spPr>
          <a:xfrm>
            <a:off x="1524000" y="4531678"/>
            <a:ext cx="9144000" cy="1655762"/>
          </a:xfrm>
        </p:spPr>
        <p:txBody>
          <a:bodyPr/>
          <a:lstStyle/>
          <a:p>
            <a:r>
              <a:rPr lang="de-DE" dirty="0">
                <a:solidFill>
                  <a:schemeClr val="bg1"/>
                </a:solidFill>
              </a:rPr>
              <a:t>Alisa Anjulie Röring</a:t>
            </a:r>
          </a:p>
          <a:p>
            <a:r>
              <a:rPr lang="de-DE" dirty="0">
                <a:solidFill>
                  <a:schemeClr val="bg1"/>
                </a:solidFill>
              </a:rPr>
              <a:t>Sam Johnson</a:t>
            </a:r>
            <a:endParaRPr lang="en-GB" dirty="0">
              <a:solidFill>
                <a:schemeClr val="bg1"/>
              </a:solidFill>
            </a:endParaRPr>
          </a:p>
        </p:txBody>
      </p:sp>
      <p:pic>
        <p:nvPicPr>
          <p:cNvPr id="1026" name="Picture 2">
            <a:extLst>
              <a:ext uri="{FF2B5EF4-FFF2-40B4-BE49-F238E27FC236}">
                <a16:creationId xmlns:a16="http://schemas.microsoft.com/office/drawing/2014/main" id="{9EDF740C-8DEA-CA00-B75F-C4EC993BF2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89720" y="304801"/>
            <a:ext cx="2865120" cy="10374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64342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942307B2-D003-4F3E-9190-99C533011A70}"/>
              </a:ext>
            </a:extLst>
          </p:cNvPr>
          <p:cNvSpPr/>
          <p:nvPr/>
        </p:nvSpPr>
        <p:spPr>
          <a:xfrm>
            <a:off x="0" y="0"/>
            <a:ext cx="12192000" cy="1546860"/>
          </a:xfrm>
          <a:prstGeom prst="rect">
            <a:avLst/>
          </a:prstGeom>
          <a:solidFill>
            <a:srgbClr val="3E69AC"/>
          </a:solidFill>
          <a:ln>
            <a:solidFill>
              <a:srgbClr val="3E69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itel 6">
            <a:extLst>
              <a:ext uri="{FF2B5EF4-FFF2-40B4-BE49-F238E27FC236}">
                <a16:creationId xmlns:a16="http://schemas.microsoft.com/office/drawing/2014/main" id="{439C0E02-E6E3-8B64-9855-BD296089CCD5}"/>
              </a:ext>
            </a:extLst>
          </p:cNvPr>
          <p:cNvSpPr>
            <a:spLocks noGrp="1"/>
          </p:cNvSpPr>
          <p:nvPr>
            <p:ph type="title"/>
          </p:nvPr>
        </p:nvSpPr>
        <p:spPr/>
        <p:txBody>
          <a:bodyPr/>
          <a:lstStyle/>
          <a:p>
            <a:r>
              <a:rPr lang="de-DE" dirty="0">
                <a:solidFill>
                  <a:schemeClr val="bg1"/>
                </a:solidFill>
              </a:rPr>
              <a:t>Goal </a:t>
            </a:r>
            <a:r>
              <a:rPr lang="de-DE" dirty="0" err="1">
                <a:solidFill>
                  <a:schemeClr val="bg1"/>
                </a:solidFill>
              </a:rPr>
              <a:t>of</a:t>
            </a:r>
            <a:r>
              <a:rPr lang="de-DE" dirty="0">
                <a:solidFill>
                  <a:schemeClr val="bg1"/>
                </a:solidFill>
              </a:rPr>
              <a:t> </a:t>
            </a:r>
            <a:r>
              <a:rPr lang="de-DE" dirty="0" err="1">
                <a:solidFill>
                  <a:schemeClr val="bg1"/>
                </a:solidFill>
              </a:rPr>
              <a:t>the</a:t>
            </a:r>
            <a:r>
              <a:rPr lang="de-DE" dirty="0">
                <a:solidFill>
                  <a:schemeClr val="bg1"/>
                </a:solidFill>
              </a:rPr>
              <a:t> </a:t>
            </a:r>
            <a:r>
              <a:rPr lang="de-DE" dirty="0" err="1">
                <a:solidFill>
                  <a:schemeClr val="bg1"/>
                </a:solidFill>
              </a:rPr>
              <a:t>project</a:t>
            </a:r>
            <a:endParaRPr lang="en-GB" dirty="0">
              <a:solidFill>
                <a:schemeClr val="bg1"/>
              </a:solidFill>
            </a:endParaRPr>
          </a:p>
        </p:txBody>
      </p:sp>
      <p:sp>
        <p:nvSpPr>
          <p:cNvPr id="8" name="Inhaltsplatzhalter 7">
            <a:extLst>
              <a:ext uri="{FF2B5EF4-FFF2-40B4-BE49-F238E27FC236}">
                <a16:creationId xmlns:a16="http://schemas.microsoft.com/office/drawing/2014/main" id="{6FF321E2-62C8-4342-E54C-87D96A742E2D}"/>
              </a:ext>
            </a:extLst>
          </p:cNvPr>
          <p:cNvSpPr>
            <a:spLocks noGrp="1"/>
          </p:cNvSpPr>
          <p:nvPr>
            <p:ph idx="1"/>
          </p:nvPr>
        </p:nvSpPr>
        <p:spPr>
          <a:xfrm>
            <a:off x="838200" y="1809750"/>
            <a:ext cx="10515600" cy="4367213"/>
          </a:xfrm>
        </p:spPr>
        <p:txBody>
          <a:bodyPr>
            <a:normAutofit/>
          </a:bodyPr>
          <a:lstStyle/>
          <a:p>
            <a:pPr marL="0" indent="0">
              <a:buNone/>
            </a:pPr>
            <a:r>
              <a:rPr lang="de-DE" sz="2400" b="1" dirty="0"/>
              <a:t>Overall:</a:t>
            </a:r>
          </a:p>
          <a:p>
            <a:r>
              <a:rPr lang="de-DE" sz="2400" dirty="0"/>
              <a:t>Select 3 </a:t>
            </a:r>
            <a:r>
              <a:rPr lang="de-DE" sz="2400" dirty="0" err="1"/>
              <a:t>accessions</a:t>
            </a:r>
            <a:r>
              <a:rPr lang="de-DE" sz="2400" dirty="0"/>
              <a:t> </a:t>
            </a:r>
            <a:r>
              <a:rPr lang="de-DE" sz="2400" dirty="0" err="1"/>
              <a:t>that</a:t>
            </a:r>
            <a:r>
              <a:rPr lang="de-DE" sz="2400" dirty="0"/>
              <a:t> </a:t>
            </a:r>
            <a:r>
              <a:rPr lang="de-DE" sz="2400" dirty="0" err="1"/>
              <a:t>combine</a:t>
            </a:r>
            <a:r>
              <a:rPr lang="de-DE" sz="2400" dirty="0"/>
              <a:t> </a:t>
            </a:r>
            <a:r>
              <a:rPr lang="de-DE" sz="2400" dirty="0" err="1"/>
              <a:t>both</a:t>
            </a:r>
            <a:r>
              <a:rPr lang="de-DE" sz="2400" dirty="0"/>
              <a:t> </a:t>
            </a:r>
            <a:r>
              <a:rPr lang="de-DE" sz="2400" dirty="0" err="1"/>
              <a:t>adaptability</a:t>
            </a:r>
            <a:r>
              <a:rPr lang="de-DE" sz="2400" dirty="0"/>
              <a:t> and </a:t>
            </a:r>
            <a:r>
              <a:rPr lang="de-DE" sz="2400" dirty="0" err="1"/>
              <a:t>genetic</a:t>
            </a:r>
            <a:r>
              <a:rPr lang="de-DE" sz="2400" dirty="0"/>
              <a:t> </a:t>
            </a:r>
            <a:r>
              <a:rPr lang="de-DE" sz="2400" dirty="0" err="1"/>
              <a:t>diversity</a:t>
            </a:r>
            <a:r>
              <a:rPr lang="de-DE" sz="2400" dirty="0"/>
              <a:t> </a:t>
            </a:r>
            <a:r>
              <a:rPr lang="de-DE" sz="2400" dirty="0" err="1"/>
              <a:t>for</a:t>
            </a:r>
            <a:r>
              <a:rPr lang="de-DE" sz="2400" dirty="0"/>
              <a:t> a </a:t>
            </a:r>
            <a:r>
              <a:rPr lang="de-DE" sz="2400" dirty="0" err="1"/>
              <a:t>future</a:t>
            </a:r>
            <a:r>
              <a:rPr lang="de-DE" sz="2400" dirty="0"/>
              <a:t> OSR </a:t>
            </a:r>
            <a:r>
              <a:rPr lang="de-DE" sz="2400" dirty="0" err="1"/>
              <a:t>breeding</a:t>
            </a:r>
            <a:r>
              <a:rPr lang="de-DE" sz="2400" dirty="0"/>
              <a:t> </a:t>
            </a:r>
            <a:r>
              <a:rPr lang="de-DE" sz="2400" dirty="0" err="1"/>
              <a:t>project</a:t>
            </a:r>
            <a:endParaRPr lang="de-DE" sz="2400" dirty="0"/>
          </a:p>
          <a:p>
            <a:pPr marL="0" indent="0">
              <a:buNone/>
            </a:pPr>
            <a:endParaRPr lang="de-DE" sz="2400" b="1" dirty="0"/>
          </a:p>
          <a:p>
            <a:pPr marL="0" indent="0">
              <a:buNone/>
            </a:pPr>
            <a:r>
              <a:rPr lang="de-DE" sz="2400" b="1" dirty="0" err="1"/>
              <a:t>Adaptability</a:t>
            </a:r>
            <a:r>
              <a:rPr lang="de-DE" sz="2400" b="1" dirty="0"/>
              <a:t>:</a:t>
            </a:r>
          </a:p>
          <a:p>
            <a:r>
              <a:rPr lang="de-DE" sz="2400" dirty="0" err="1"/>
              <a:t>How</a:t>
            </a:r>
            <a:r>
              <a:rPr lang="de-DE" sz="2400" dirty="0"/>
              <a:t> </a:t>
            </a:r>
            <a:r>
              <a:rPr lang="de-DE" sz="2400" dirty="0" err="1"/>
              <a:t>good</a:t>
            </a:r>
            <a:r>
              <a:rPr lang="de-DE" sz="2400" dirty="0"/>
              <a:t> </a:t>
            </a:r>
            <a:r>
              <a:rPr lang="de-DE" sz="2400" dirty="0" err="1"/>
              <a:t>is</a:t>
            </a:r>
            <a:r>
              <a:rPr lang="de-DE" sz="2400" dirty="0"/>
              <a:t> </a:t>
            </a:r>
            <a:r>
              <a:rPr lang="de-DE" sz="2400" dirty="0" err="1"/>
              <a:t>the</a:t>
            </a:r>
            <a:r>
              <a:rPr lang="de-DE" sz="2400" dirty="0"/>
              <a:t> </a:t>
            </a:r>
            <a:r>
              <a:rPr lang="de-DE" sz="2400" dirty="0" err="1"/>
              <a:t>overall</a:t>
            </a:r>
            <a:r>
              <a:rPr lang="de-DE" sz="2400" dirty="0"/>
              <a:t> </a:t>
            </a:r>
            <a:r>
              <a:rPr lang="de-DE" sz="2400" dirty="0" err="1"/>
              <a:t>phenotypic</a:t>
            </a:r>
            <a:r>
              <a:rPr lang="de-DE" sz="2400" dirty="0"/>
              <a:t> </a:t>
            </a:r>
            <a:r>
              <a:rPr lang="de-DE" sz="2400" dirty="0" err="1"/>
              <a:t>performance</a:t>
            </a:r>
            <a:r>
              <a:rPr lang="de-DE" sz="2400" dirty="0"/>
              <a:t> </a:t>
            </a:r>
            <a:r>
              <a:rPr lang="de-DE" sz="2400" dirty="0" err="1"/>
              <a:t>of</a:t>
            </a:r>
            <a:r>
              <a:rPr lang="de-DE" sz="2400" dirty="0"/>
              <a:t> </a:t>
            </a:r>
            <a:r>
              <a:rPr lang="de-DE" sz="2400" dirty="0" err="1"/>
              <a:t>each</a:t>
            </a:r>
            <a:r>
              <a:rPr lang="de-DE" sz="2400" dirty="0"/>
              <a:t> </a:t>
            </a:r>
            <a:r>
              <a:rPr lang="de-DE" sz="2400" dirty="0" err="1"/>
              <a:t>accession</a:t>
            </a:r>
            <a:r>
              <a:rPr lang="de-DE" sz="2400" dirty="0"/>
              <a:t>?</a:t>
            </a:r>
          </a:p>
          <a:p>
            <a:endParaRPr lang="de-DE" sz="2400" dirty="0"/>
          </a:p>
          <a:p>
            <a:pPr marL="0" indent="0">
              <a:buNone/>
            </a:pPr>
            <a:r>
              <a:rPr lang="de-DE" sz="2400" b="1" dirty="0" err="1"/>
              <a:t>Diversity</a:t>
            </a:r>
            <a:r>
              <a:rPr lang="de-DE" sz="2400" b="1" dirty="0"/>
              <a:t> (from </a:t>
            </a:r>
            <a:r>
              <a:rPr lang="de-DE" sz="2400" b="1" dirty="0" err="1"/>
              <a:t>genotyping</a:t>
            </a:r>
            <a:r>
              <a:rPr lang="de-DE" sz="2400" b="1" dirty="0"/>
              <a:t>):</a:t>
            </a:r>
          </a:p>
          <a:p>
            <a:r>
              <a:rPr lang="en-GB" sz="2400" dirty="0"/>
              <a:t>How genetically different are the accessions from each other?</a:t>
            </a:r>
            <a:endParaRPr lang="de-DE" sz="2400" dirty="0"/>
          </a:p>
          <a:p>
            <a:pPr marL="0" indent="0">
              <a:buNone/>
            </a:pPr>
            <a:endParaRPr lang="en-GB" sz="2400" dirty="0"/>
          </a:p>
        </p:txBody>
      </p:sp>
    </p:spTree>
    <p:extLst>
      <p:ext uri="{BB962C8B-B14F-4D97-AF65-F5344CB8AC3E}">
        <p14:creationId xmlns:p14="http://schemas.microsoft.com/office/powerpoint/2010/main" val="592737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nhaltsplatzhalter 15">
            <a:extLst>
              <a:ext uri="{FF2B5EF4-FFF2-40B4-BE49-F238E27FC236}">
                <a16:creationId xmlns:a16="http://schemas.microsoft.com/office/drawing/2014/main" id="{6B310D38-89B8-FF07-06B1-D26FA2952C48}"/>
              </a:ext>
            </a:extLst>
          </p:cNvPr>
          <p:cNvSpPr>
            <a:spLocks noGrp="1"/>
          </p:cNvSpPr>
          <p:nvPr>
            <p:ph sz="half" idx="1"/>
          </p:nvPr>
        </p:nvSpPr>
        <p:spPr>
          <a:xfrm>
            <a:off x="4380855" y="1412489"/>
            <a:ext cx="3427283" cy="4363844"/>
          </a:xfrm>
        </p:spPr>
        <p:txBody>
          <a:bodyPr>
            <a:normAutofit/>
          </a:bodyPr>
          <a:lstStyle/>
          <a:p>
            <a:pPr marL="0" indent="0">
              <a:buNone/>
            </a:pPr>
            <a:r>
              <a:rPr lang="de-DE" sz="2000" b="1" dirty="0"/>
              <a:t>Growth &amp; </a:t>
            </a:r>
            <a:r>
              <a:rPr lang="de-DE" sz="2000" b="1" dirty="0" err="1"/>
              <a:t>development</a:t>
            </a:r>
            <a:r>
              <a:rPr lang="de-DE" sz="2000" b="1" dirty="0"/>
              <a:t>:</a:t>
            </a:r>
          </a:p>
          <a:p>
            <a:r>
              <a:rPr lang="de-DE" sz="2000" dirty="0"/>
              <a:t>Plant </a:t>
            </a:r>
            <a:r>
              <a:rPr lang="de-DE" sz="2000" dirty="0" err="1"/>
              <a:t>height</a:t>
            </a:r>
            <a:r>
              <a:rPr lang="de-DE" sz="2000" dirty="0"/>
              <a:t>, BBCH</a:t>
            </a:r>
          </a:p>
          <a:p>
            <a:r>
              <a:rPr lang="de-DE" sz="2000" dirty="0" err="1"/>
              <a:t>Excluded</a:t>
            </a:r>
            <a:r>
              <a:rPr lang="de-DE" sz="2000" dirty="0"/>
              <a:t>: </a:t>
            </a:r>
            <a:r>
              <a:rPr lang="de-DE" sz="2000" dirty="0" err="1"/>
              <a:t>Flowering</a:t>
            </a:r>
            <a:r>
              <a:rPr lang="de-DE" sz="2000" dirty="0"/>
              <a:t> time</a:t>
            </a:r>
          </a:p>
          <a:p>
            <a:pPr marL="0" indent="0">
              <a:buNone/>
            </a:pPr>
            <a:endParaRPr lang="en-GB" sz="2000" dirty="0"/>
          </a:p>
          <a:p>
            <a:pPr marL="0" indent="0">
              <a:buNone/>
            </a:pPr>
            <a:r>
              <a:rPr lang="en-GB" sz="2000" b="1" dirty="0"/>
              <a:t>Biomass:</a:t>
            </a:r>
          </a:p>
          <a:p>
            <a:r>
              <a:rPr lang="en-GB" sz="2000" dirty="0"/>
              <a:t>Fresh mass, dry mass</a:t>
            </a:r>
          </a:p>
          <a:p>
            <a:endParaRPr lang="en-GB" sz="2000" dirty="0"/>
          </a:p>
          <a:p>
            <a:pPr marL="0" indent="0">
              <a:buNone/>
            </a:pPr>
            <a:r>
              <a:rPr lang="en-GB" sz="2000" b="1" dirty="0"/>
              <a:t>Yield component:</a:t>
            </a:r>
          </a:p>
          <a:p>
            <a:r>
              <a:rPr lang="en-GB" sz="2000" dirty="0"/>
              <a:t>Hundred grain weight</a:t>
            </a:r>
          </a:p>
          <a:p>
            <a:endParaRPr lang="en-GB" sz="2000" dirty="0"/>
          </a:p>
        </p:txBody>
      </p:sp>
      <p:sp>
        <p:nvSpPr>
          <p:cNvPr id="6" name="Inhaltsplatzhalter 16">
            <a:extLst>
              <a:ext uri="{FF2B5EF4-FFF2-40B4-BE49-F238E27FC236}">
                <a16:creationId xmlns:a16="http://schemas.microsoft.com/office/drawing/2014/main" id="{E0EB5BF8-2AF7-0D34-E856-12C88C8CFB5B}"/>
              </a:ext>
            </a:extLst>
          </p:cNvPr>
          <p:cNvSpPr>
            <a:spLocks noGrp="1"/>
          </p:cNvSpPr>
          <p:nvPr>
            <p:ph sz="half" idx="2"/>
          </p:nvPr>
        </p:nvSpPr>
        <p:spPr>
          <a:xfrm>
            <a:off x="8451604" y="1412489"/>
            <a:ext cx="3197701" cy="4363844"/>
          </a:xfrm>
        </p:spPr>
        <p:txBody>
          <a:bodyPr>
            <a:normAutofit/>
          </a:bodyPr>
          <a:lstStyle/>
          <a:p>
            <a:pPr marL="0" indent="0">
              <a:buNone/>
            </a:pPr>
            <a:r>
              <a:rPr lang="en-GB" sz="2000" b="1" dirty="0"/>
              <a:t>Physiology:</a:t>
            </a:r>
          </a:p>
          <a:p>
            <a:r>
              <a:rPr lang="en-GB" sz="2000" dirty="0"/>
              <a:t>CCM</a:t>
            </a:r>
          </a:p>
          <a:p>
            <a:endParaRPr lang="en-GB" sz="2000" dirty="0"/>
          </a:p>
          <a:p>
            <a:pPr marL="0" indent="0">
              <a:buNone/>
            </a:pPr>
            <a:endParaRPr lang="en-GB" sz="2000" b="1" dirty="0"/>
          </a:p>
          <a:p>
            <a:pPr marL="0" indent="0">
              <a:buNone/>
            </a:pPr>
            <a:r>
              <a:rPr lang="en-GB" sz="2000" b="1" dirty="0"/>
              <a:t>Seed quality:</a:t>
            </a:r>
          </a:p>
          <a:p>
            <a:r>
              <a:rPr lang="en-GB" sz="2000" dirty="0"/>
              <a:t>Proteins, oil, glucosinolates etc.</a:t>
            </a:r>
          </a:p>
          <a:p>
            <a:endParaRPr lang="en-GB" sz="2000" b="1" dirty="0"/>
          </a:p>
          <a:p>
            <a:pPr marL="0" indent="0">
              <a:buNone/>
            </a:pPr>
            <a:endParaRPr lang="en-GB" sz="2000" dirty="0"/>
          </a:p>
        </p:txBody>
      </p:sp>
      <p:cxnSp>
        <p:nvCxnSpPr>
          <p:cNvPr id="8" name="Gerader Verbinder 7">
            <a:extLst>
              <a:ext uri="{FF2B5EF4-FFF2-40B4-BE49-F238E27FC236}">
                <a16:creationId xmlns:a16="http://schemas.microsoft.com/office/drawing/2014/main" id="{DA9F7ABB-C12E-9FE2-5127-9023D0DBDBD8}"/>
              </a:ext>
            </a:extLst>
          </p:cNvPr>
          <p:cNvCxnSpPr/>
          <p:nvPr/>
        </p:nvCxnSpPr>
        <p:spPr>
          <a:xfrm>
            <a:off x="7909560" y="762000"/>
            <a:ext cx="0" cy="5082540"/>
          </a:xfrm>
          <a:prstGeom prst="line">
            <a:avLst/>
          </a:prstGeom>
        </p:spPr>
        <p:style>
          <a:lnRef idx="2">
            <a:schemeClr val="accent1"/>
          </a:lnRef>
          <a:fillRef idx="0">
            <a:schemeClr val="accent1"/>
          </a:fillRef>
          <a:effectRef idx="1">
            <a:schemeClr val="accent1"/>
          </a:effectRef>
          <a:fontRef idx="minor">
            <a:schemeClr val="tx1"/>
          </a:fontRef>
        </p:style>
      </p:cxnSp>
      <p:sp>
        <p:nvSpPr>
          <p:cNvPr id="9" name="Rechteck 8">
            <a:extLst>
              <a:ext uri="{FF2B5EF4-FFF2-40B4-BE49-F238E27FC236}">
                <a16:creationId xmlns:a16="http://schemas.microsoft.com/office/drawing/2014/main" id="{35159AD7-9F60-E769-2023-F14685B12B6C}"/>
              </a:ext>
            </a:extLst>
          </p:cNvPr>
          <p:cNvSpPr/>
          <p:nvPr/>
        </p:nvSpPr>
        <p:spPr>
          <a:xfrm>
            <a:off x="0" y="0"/>
            <a:ext cx="3838810" cy="6858000"/>
          </a:xfrm>
          <a:prstGeom prst="rect">
            <a:avLst/>
          </a:prstGeom>
          <a:solidFill>
            <a:srgbClr val="3E69AC"/>
          </a:solidFill>
          <a:ln>
            <a:solidFill>
              <a:srgbClr val="3E69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itel 1">
            <a:extLst>
              <a:ext uri="{FF2B5EF4-FFF2-40B4-BE49-F238E27FC236}">
                <a16:creationId xmlns:a16="http://schemas.microsoft.com/office/drawing/2014/main" id="{17982BF4-5083-3860-FB3A-47E8C63BF939}"/>
              </a:ext>
            </a:extLst>
          </p:cNvPr>
          <p:cNvSpPr>
            <a:spLocks noGrp="1"/>
          </p:cNvSpPr>
          <p:nvPr>
            <p:ph type="title"/>
          </p:nvPr>
        </p:nvSpPr>
        <p:spPr>
          <a:xfrm>
            <a:off x="469810" y="1445385"/>
            <a:ext cx="2899189" cy="4363844"/>
          </a:xfrm>
        </p:spPr>
        <p:txBody>
          <a:bodyPr anchor="t">
            <a:normAutofit/>
          </a:bodyPr>
          <a:lstStyle/>
          <a:p>
            <a:r>
              <a:rPr lang="de-DE" sz="4000" dirty="0" err="1">
                <a:solidFill>
                  <a:srgbClr val="FFFFFF"/>
                </a:solidFill>
              </a:rPr>
              <a:t>Phenotypical</a:t>
            </a:r>
            <a:r>
              <a:rPr lang="de-DE" sz="4000" dirty="0">
                <a:solidFill>
                  <a:srgbClr val="FFFFFF"/>
                </a:solidFill>
              </a:rPr>
              <a:t> </a:t>
            </a:r>
            <a:r>
              <a:rPr lang="de-DE" sz="4000" dirty="0" err="1">
                <a:solidFill>
                  <a:srgbClr val="FFFFFF"/>
                </a:solidFill>
              </a:rPr>
              <a:t>evaluation</a:t>
            </a:r>
            <a:r>
              <a:rPr lang="de-DE" sz="4000" dirty="0">
                <a:solidFill>
                  <a:srgbClr val="FFFFFF"/>
                </a:solidFill>
              </a:rPr>
              <a:t>: Traits</a:t>
            </a:r>
            <a:endParaRPr lang="en-GB" sz="4000" dirty="0">
              <a:solidFill>
                <a:srgbClr val="FFFFFF"/>
              </a:solidFill>
            </a:endParaRPr>
          </a:p>
        </p:txBody>
      </p:sp>
    </p:spTree>
    <p:extLst>
      <p:ext uri="{BB962C8B-B14F-4D97-AF65-F5344CB8AC3E}">
        <p14:creationId xmlns:p14="http://schemas.microsoft.com/office/powerpoint/2010/main" val="96029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65FFE964-7C90-F786-EB9C-B81F909B2AAF}"/>
              </a:ext>
            </a:extLst>
          </p:cNvPr>
          <p:cNvSpPr/>
          <p:nvPr/>
        </p:nvSpPr>
        <p:spPr>
          <a:xfrm>
            <a:off x="0" y="0"/>
            <a:ext cx="12192000" cy="1546860"/>
          </a:xfrm>
          <a:prstGeom prst="rect">
            <a:avLst/>
          </a:prstGeom>
          <a:solidFill>
            <a:srgbClr val="3E69AC"/>
          </a:solidFill>
          <a:ln>
            <a:solidFill>
              <a:srgbClr val="3E69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el 1">
            <a:extLst>
              <a:ext uri="{FF2B5EF4-FFF2-40B4-BE49-F238E27FC236}">
                <a16:creationId xmlns:a16="http://schemas.microsoft.com/office/drawing/2014/main" id="{418EC27F-FB70-5889-6134-12EE99FFD405}"/>
              </a:ext>
            </a:extLst>
          </p:cNvPr>
          <p:cNvSpPr>
            <a:spLocks noGrp="1"/>
          </p:cNvSpPr>
          <p:nvPr>
            <p:ph type="title"/>
          </p:nvPr>
        </p:nvSpPr>
        <p:spPr/>
        <p:txBody>
          <a:bodyPr/>
          <a:lstStyle/>
          <a:p>
            <a:r>
              <a:rPr lang="de-DE" dirty="0" err="1">
                <a:solidFill>
                  <a:schemeClr val="bg1"/>
                </a:solidFill>
              </a:rPr>
              <a:t>What</a:t>
            </a:r>
            <a:r>
              <a:rPr lang="de-DE" dirty="0">
                <a:solidFill>
                  <a:schemeClr val="bg1"/>
                </a:solidFill>
              </a:rPr>
              <a:t> </a:t>
            </a:r>
            <a:r>
              <a:rPr lang="de-DE" dirty="0" err="1">
                <a:solidFill>
                  <a:schemeClr val="bg1"/>
                </a:solidFill>
              </a:rPr>
              <a:t>are</a:t>
            </a:r>
            <a:r>
              <a:rPr lang="de-DE" dirty="0">
                <a:solidFill>
                  <a:schemeClr val="bg1"/>
                </a:solidFill>
              </a:rPr>
              <a:t> BLUPs and EBLUPs?</a:t>
            </a:r>
            <a:endParaRPr lang="en-GB" dirty="0">
              <a:solidFill>
                <a:schemeClr val="bg1"/>
              </a:solidFill>
            </a:endParaRPr>
          </a:p>
        </p:txBody>
      </p:sp>
      <p:sp>
        <p:nvSpPr>
          <p:cNvPr id="5" name="Inhaltsplatzhalter 4">
            <a:extLst>
              <a:ext uri="{FF2B5EF4-FFF2-40B4-BE49-F238E27FC236}">
                <a16:creationId xmlns:a16="http://schemas.microsoft.com/office/drawing/2014/main" id="{33657402-8E18-8706-9403-719A4EEA2B5A}"/>
              </a:ext>
            </a:extLst>
          </p:cNvPr>
          <p:cNvSpPr>
            <a:spLocks noGrp="1"/>
          </p:cNvSpPr>
          <p:nvPr>
            <p:ph idx="1"/>
          </p:nvPr>
        </p:nvSpPr>
        <p:spPr/>
        <p:txBody>
          <a:bodyPr/>
          <a:lstStyle/>
          <a:p>
            <a:pPr marL="0" indent="0">
              <a:buNone/>
            </a:pPr>
            <a:r>
              <a:rPr lang="de-DE" b="1" dirty="0"/>
              <a:t>BLUP:</a:t>
            </a:r>
          </a:p>
          <a:p>
            <a:r>
              <a:rPr lang="de-DE" dirty="0" err="1"/>
              <a:t>Corrected</a:t>
            </a:r>
            <a:r>
              <a:rPr lang="de-DE" dirty="0"/>
              <a:t> </a:t>
            </a:r>
            <a:r>
              <a:rPr lang="de-DE" dirty="0" err="1"/>
              <a:t>genetic</a:t>
            </a:r>
            <a:r>
              <a:rPr lang="de-DE" dirty="0"/>
              <a:t> </a:t>
            </a:r>
            <a:r>
              <a:rPr lang="de-DE" dirty="0" err="1"/>
              <a:t>value</a:t>
            </a:r>
            <a:endParaRPr lang="de-DE" dirty="0"/>
          </a:p>
          <a:p>
            <a:r>
              <a:rPr lang="de-DE" dirty="0" err="1"/>
              <a:t>Removes</a:t>
            </a:r>
            <a:r>
              <a:rPr lang="de-DE" dirty="0"/>
              <a:t> environmental + </a:t>
            </a:r>
            <a:r>
              <a:rPr lang="de-DE" dirty="0" err="1"/>
              <a:t>replicate</a:t>
            </a:r>
            <a:r>
              <a:rPr lang="de-DE" dirty="0"/>
              <a:t> </a:t>
            </a:r>
            <a:r>
              <a:rPr lang="de-DE" dirty="0" err="1"/>
              <a:t>effects</a:t>
            </a:r>
            <a:endParaRPr lang="de-DE" dirty="0"/>
          </a:p>
          <a:p>
            <a:endParaRPr lang="de-DE" dirty="0"/>
          </a:p>
          <a:p>
            <a:pPr marL="0" indent="0">
              <a:buNone/>
            </a:pPr>
            <a:r>
              <a:rPr lang="de-DE" b="1" dirty="0"/>
              <a:t>EBLUP:</a:t>
            </a:r>
          </a:p>
          <a:p>
            <a:r>
              <a:rPr lang="de-DE" dirty="0"/>
              <a:t>Overall </a:t>
            </a:r>
            <a:r>
              <a:rPr lang="de-DE" dirty="0" err="1"/>
              <a:t>mean</a:t>
            </a:r>
            <a:r>
              <a:rPr lang="de-DE" dirty="0"/>
              <a:t> + BLUP → final </a:t>
            </a:r>
            <a:r>
              <a:rPr lang="de-DE" dirty="0" err="1"/>
              <a:t>corrected</a:t>
            </a:r>
            <a:r>
              <a:rPr lang="de-DE" dirty="0"/>
              <a:t> </a:t>
            </a:r>
            <a:r>
              <a:rPr lang="de-DE" dirty="0" err="1"/>
              <a:t>performance</a:t>
            </a:r>
            <a:r>
              <a:rPr lang="de-DE" dirty="0"/>
              <a:t> </a:t>
            </a:r>
            <a:r>
              <a:rPr lang="de-DE" dirty="0" err="1"/>
              <a:t>of</a:t>
            </a:r>
            <a:r>
              <a:rPr lang="de-DE" dirty="0"/>
              <a:t> </a:t>
            </a:r>
            <a:r>
              <a:rPr lang="de-DE" dirty="0" err="1"/>
              <a:t>each</a:t>
            </a:r>
            <a:r>
              <a:rPr lang="de-DE" dirty="0"/>
              <a:t> </a:t>
            </a:r>
            <a:r>
              <a:rPr lang="de-DE" dirty="0" err="1"/>
              <a:t>genotype</a:t>
            </a:r>
            <a:endParaRPr lang="de-DE" dirty="0"/>
          </a:p>
          <a:p>
            <a:endParaRPr lang="en-GB" b="1" dirty="0"/>
          </a:p>
        </p:txBody>
      </p:sp>
    </p:spTree>
    <p:extLst>
      <p:ext uri="{BB962C8B-B14F-4D97-AF65-F5344CB8AC3E}">
        <p14:creationId xmlns:p14="http://schemas.microsoft.com/office/powerpoint/2010/main" val="4057976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3791892C-4B94-7DBB-5400-56FCD2F1A9E9}"/>
              </a:ext>
            </a:extLst>
          </p:cNvPr>
          <p:cNvSpPr/>
          <p:nvPr/>
        </p:nvSpPr>
        <p:spPr>
          <a:xfrm>
            <a:off x="0" y="0"/>
            <a:ext cx="12192000" cy="1546860"/>
          </a:xfrm>
          <a:prstGeom prst="rect">
            <a:avLst/>
          </a:prstGeom>
          <a:solidFill>
            <a:srgbClr val="3E69AC"/>
          </a:solidFill>
          <a:ln>
            <a:solidFill>
              <a:srgbClr val="3E69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el 1">
            <a:extLst>
              <a:ext uri="{FF2B5EF4-FFF2-40B4-BE49-F238E27FC236}">
                <a16:creationId xmlns:a16="http://schemas.microsoft.com/office/drawing/2014/main" id="{41077265-5A19-6995-9017-B50FECD3CD85}"/>
              </a:ext>
            </a:extLst>
          </p:cNvPr>
          <p:cNvSpPr>
            <a:spLocks noGrp="1"/>
          </p:cNvSpPr>
          <p:nvPr>
            <p:ph type="title"/>
          </p:nvPr>
        </p:nvSpPr>
        <p:spPr/>
        <p:txBody>
          <a:bodyPr/>
          <a:lstStyle/>
          <a:p>
            <a:r>
              <a:rPr lang="de-DE" dirty="0" err="1">
                <a:solidFill>
                  <a:schemeClr val="bg1"/>
                </a:solidFill>
              </a:rPr>
              <a:t>Phenotypical</a:t>
            </a:r>
            <a:r>
              <a:rPr lang="de-DE" dirty="0">
                <a:solidFill>
                  <a:schemeClr val="bg1"/>
                </a:solidFill>
              </a:rPr>
              <a:t> </a:t>
            </a:r>
            <a:r>
              <a:rPr lang="de-DE" dirty="0" err="1">
                <a:solidFill>
                  <a:schemeClr val="bg1"/>
                </a:solidFill>
              </a:rPr>
              <a:t>evaluation</a:t>
            </a:r>
            <a:r>
              <a:rPr lang="de-DE" dirty="0">
                <a:solidFill>
                  <a:schemeClr val="bg1"/>
                </a:solidFill>
              </a:rPr>
              <a:t>: Pipeline</a:t>
            </a:r>
            <a:endParaRPr lang="en-GB" dirty="0">
              <a:solidFill>
                <a:schemeClr val="bg1"/>
              </a:solidFill>
            </a:endParaRPr>
          </a:p>
        </p:txBody>
      </p:sp>
      <p:sp>
        <p:nvSpPr>
          <p:cNvPr id="3" name="Inhaltsplatzhalter 2">
            <a:extLst>
              <a:ext uri="{FF2B5EF4-FFF2-40B4-BE49-F238E27FC236}">
                <a16:creationId xmlns:a16="http://schemas.microsoft.com/office/drawing/2014/main" id="{D1C1A29F-4783-81E2-28DB-6206C7A7B13B}"/>
              </a:ext>
            </a:extLst>
          </p:cNvPr>
          <p:cNvSpPr>
            <a:spLocks noGrp="1"/>
          </p:cNvSpPr>
          <p:nvPr>
            <p:ph idx="1"/>
          </p:nvPr>
        </p:nvSpPr>
        <p:spPr/>
        <p:txBody>
          <a:bodyPr/>
          <a:lstStyle/>
          <a:p>
            <a:r>
              <a:rPr lang="de-DE" dirty="0" err="1"/>
              <a:t>Testing</a:t>
            </a:r>
            <a:r>
              <a:rPr lang="de-DE" dirty="0"/>
              <a:t> </a:t>
            </a:r>
            <a:r>
              <a:rPr lang="de-DE" dirty="0" err="1"/>
              <a:t>genotypes</a:t>
            </a:r>
            <a:r>
              <a:rPr lang="de-DE" dirty="0"/>
              <a:t> </a:t>
            </a:r>
            <a:r>
              <a:rPr lang="de-DE" dirty="0" err="1"/>
              <a:t>for</a:t>
            </a:r>
            <a:r>
              <a:rPr lang="de-DE" dirty="0"/>
              <a:t> </a:t>
            </a:r>
            <a:r>
              <a:rPr lang="de-DE" dirty="0" err="1"/>
              <a:t>significance</a:t>
            </a:r>
            <a:r>
              <a:rPr lang="de-DE" dirty="0"/>
              <a:t> </a:t>
            </a:r>
            <a:r>
              <a:rPr lang="de-DE" dirty="0" err="1"/>
              <a:t>using</a:t>
            </a:r>
            <a:r>
              <a:rPr lang="de-DE" dirty="0"/>
              <a:t> LMMs</a:t>
            </a:r>
          </a:p>
          <a:p>
            <a:pPr lvl="1"/>
            <a:r>
              <a:rPr lang="de-DE" dirty="0"/>
              <a:t>Model: Trait = </a:t>
            </a:r>
            <a:r>
              <a:rPr lang="de-DE" dirty="0" err="1"/>
              <a:t>Genotype</a:t>
            </a:r>
            <a:r>
              <a:rPr lang="de-DE" dirty="0"/>
              <a:t> + (1 | Rep)</a:t>
            </a:r>
          </a:p>
          <a:p>
            <a:r>
              <a:rPr lang="de-DE" dirty="0" err="1"/>
              <a:t>Extracting</a:t>
            </a:r>
            <a:r>
              <a:rPr lang="de-DE" dirty="0"/>
              <a:t> BLUPs and EBLUPs</a:t>
            </a:r>
          </a:p>
          <a:p>
            <a:pPr lvl="1"/>
            <a:r>
              <a:rPr lang="de-DE" dirty="0"/>
              <a:t>Model: </a:t>
            </a:r>
            <a:r>
              <a:rPr lang="en-GB" dirty="0"/>
              <a:t>Trait = 1 + (1 | Genotype) + (1 | Rep)</a:t>
            </a:r>
            <a:endParaRPr lang="de-DE" dirty="0"/>
          </a:p>
          <a:p>
            <a:r>
              <a:rPr lang="de-DE" dirty="0" err="1"/>
              <a:t>Calculating</a:t>
            </a:r>
            <a:r>
              <a:rPr lang="de-DE" dirty="0"/>
              <a:t> multi-</a:t>
            </a:r>
            <a:r>
              <a:rPr lang="de-DE" dirty="0" err="1"/>
              <a:t>trait</a:t>
            </a:r>
            <a:r>
              <a:rPr lang="de-DE" dirty="0"/>
              <a:t> score </a:t>
            </a:r>
            <a:r>
              <a:rPr lang="de-DE" dirty="0" err="1"/>
              <a:t>using</a:t>
            </a:r>
            <a:r>
              <a:rPr lang="de-DE" dirty="0"/>
              <a:t> EBLUPs</a:t>
            </a:r>
          </a:p>
          <a:p>
            <a:r>
              <a:rPr lang="de-DE" dirty="0"/>
              <a:t>Ranking </a:t>
            </a:r>
            <a:r>
              <a:rPr lang="de-DE" dirty="0" err="1"/>
              <a:t>accessions</a:t>
            </a:r>
            <a:r>
              <a:rPr lang="de-DE" dirty="0"/>
              <a:t> after </a:t>
            </a:r>
            <a:r>
              <a:rPr lang="de-DE" dirty="0" err="1"/>
              <a:t>overall</a:t>
            </a:r>
            <a:r>
              <a:rPr lang="de-DE" dirty="0"/>
              <a:t> </a:t>
            </a:r>
            <a:r>
              <a:rPr lang="de-DE" dirty="0" err="1"/>
              <a:t>performance</a:t>
            </a:r>
            <a:endParaRPr lang="en-GB" dirty="0"/>
          </a:p>
        </p:txBody>
      </p:sp>
    </p:spTree>
    <p:extLst>
      <p:ext uri="{BB962C8B-B14F-4D97-AF65-F5344CB8AC3E}">
        <p14:creationId xmlns:p14="http://schemas.microsoft.com/office/powerpoint/2010/main" val="26098657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94F6A22E-898A-688B-85E0-A8BFF1741B20}"/>
              </a:ext>
            </a:extLst>
          </p:cNvPr>
          <p:cNvSpPr/>
          <p:nvPr/>
        </p:nvSpPr>
        <p:spPr>
          <a:xfrm>
            <a:off x="0" y="0"/>
            <a:ext cx="12192000" cy="1546860"/>
          </a:xfrm>
          <a:prstGeom prst="rect">
            <a:avLst/>
          </a:prstGeom>
          <a:solidFill>
            <a:srgbClr val="3E69AC"/>
          </a:solidFill>
          <a:ln>
            <a:solidFill>
              <a:srgbClr val="3E69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el 1">
            <a:extLst>
              <a:ext uri="{FF2B5EF4-FFF2-40B4-BE49-F238E27FC236}">
                <a16:creationId xmlns:a16="http://schemas.microsoft.com/office/drawing/2014/main" id="{0678E0ED-D05F-19CA-DC7C-F5A1BFA42A31}"/>
              </a:ext>
            </a:extLst>
          </p:cNvPr>
          <p:cNvSpPr>
            <a:spLocks noGrp="1"/>
          </p:cNvSpPr>
          <p:nvPr>
            <p:ph type="title"/>
          </p:nvPr>
        </p:nvSpPr>
        <p:spPr/>
        <p:txBody>
          <a:bodyPr/>
          <a:lstStyle/>
          <a:p>
            <a:r>
              <a:rPr lang="de-DE" dirty="0" err="1">
                <a:solidFill>
                  <a:schemeClr val="bg1"/>
                </a:solidFill>
              </a:rPr>
              <a:t>Phenotypic</a:t>
            </a:r>
            <a:r>
              <a:rPr lang="de-DE" dirty="0">
                <a:solidFill>
                  <a:schemeClr val="bg1"/>
                </a:solidFill>
              </a:rPr>
              <a:t> </a:t>
            </a:r>
            <a:r>
              <a:rPr lang="de-DE" dirty="0" err="1">
                <a:solidFill>
                  <a:schemeClr val="bg1"/>
                </a:solidFill>
              </a:rPr>
              <a:t>evaluation</a:t>
            </a:r>
            <a:r>
              <a:rPr lang="de-DE" dirty="0">
                <a:solidFill>
                  <a:schemeClr val="bg1"/>
                </a:solidFill>
              </a:rPr>
              <a:t>: </a:t>
            </a:r>
            <a:r>
              <a:rPr lang="de-DE" dirty="0" err="1">
                <a:solidFill>
                  <a:schemeClr val="bg1"/>
                </a:solidFill>
              </a:rPr>
              <a:t>Results</a:t>
            </a:r>
            <a:endParaRPr lang="en-GB" dirty="0">
              <a:solidFill>
                <a:schemeClr val="bg1"/>
              </a:solidFill>
            </a:endParaRPr>
          </a:p>
        </p:txBody>
      </p:sp>
      <p:pic>
        <p:nvPicPr>
          <p:cNvPr id="5" name="Inhaltsplatzhalter 4" descr="Ein Bild, das Text, Diagramm, Screenshot, Reihe enthält.&#10;&#10;KI-generierte Inhalte können fehlerhaft sein.">
            <a:extLst>
              <a:ext uri="{FF2B5EF4-FFF2-40B4-BE49-F238E27FC236}">
                <a16:creationId xmlns:a16="http://schemas.microsoft.com/office/drawing/2014/main" id="{54CD6933-3DA0-D449-E439-ED6793A88C5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98257" y="1813560"/>
            <a:ext cx="9595486" cy="4797743"/>
          </a:xfrm>
        </p:spPr>
      </p:pic>
    </p:spTree>
    <p:extLst>
      <p:ext uri="{BB962C8B-B14F-4D97-AF65-F5344CB8AC3E}">
        <p14:creationId xmlns:p14="http://schemas.microsoft.com/office/powerpoint/2010/main" val="2361870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964D3-8AFC-7564-CC17-63A2050BB622}"/>
              </a:ext>
            </a:extLst>
          </p:cNvPr>
          <p:cNvSpPr>
            <a:spLocks noGrp="1"/>
          </p:cNvSpPr>
          <p:nvPr>
            <p:ph type="title"/>
          </p:nvPr>
        </p:nvSpPr>
        <p:spPr/>
        <p:txBody>
          <a:bodyPr/>
          <a:lstStyle/>
          <a:p>
            <a:r>
              <a:rPr lang="en-US"/>
              <a:t>Methods Geno</a:t>
            </a:r>
            <a:endParaRPr lang="en-US" dirty="0"/>
          </a:p>
        </p:txBody>
      </p:sp>
      <p:sp>
        <p:nvSpPr>
          <p:cNvPr id="3" name="Content Placeholder 2">
            <a:extLst>
              <a:ext uri="{FF2B5EF4-FFF2-40B4-BE49-F238E27FC236}">
                <a16:creationId xmlns:a16="http://schemas.microsoft.com/office/drawing/2014/main" id="{9FC55BB2-F08F-8877-3B8D-BE4AA3223A5A}"/>
              </a:ext>
            </a:extLst>
          </p:cNvPr>
          <p:cNvSpPr>
            <a:spLocks noGrp="1"/>
          </p:cNvSpPr>
          <p:nvPr>
            <p:ph idx="1"/>
          </p:nvPr>
        </p:nvSpPr>
        <p:spPr/>
        <p:txBody>
          <a:bodyPr vert="horz" lIns="91440" tIns="45720" rIns="91440" bIns="45720" rtlCol="0" anchor="t">
            <a:normAutofit/>
          </a:bodyPr>
          <a:lstStyle/>
          <a:p>
            <a:r>
              <a:rPr lang="en-US" dirty="0"/>
              <a:t>KASP (explain AA and CC)</a:t>
            </a:r>
          </a:p>
          <a:p>
            <a:pPr lvl="1"/>
            <a:r>
              <a:rPr lang="en-US" dirty="0"/>
              <a:t>Possible </a:t>
            </a:r>
            <a:r>
              <a:rPr lang="en-US" dirty="0" err="1"/>
              <a:t>cryptoheterozygosity</a:t>
            </a:r>
            <a:r>
              <a:rPr lang="en-US" dirty="0"/>
              <a:t> in CC (R7 | R9)</a:t>
            </a:r>
          </a:p>
          <a:p>
            <a:pPr lvl="1"/>
            <a:r>
              <a:rPr lang="en-US" dirty="0"/>
              <a:t>Still best for disease resistance</a:t>
            </a:r>
          </a:p>
          <a:p>
            <a:pPr lvl="1"/>
            <a:r>
              <a:rPr lang="en-US" dirty="0"/>
              <a:t>AA second best (only resistant to &lt;race of L. </a:t>
            </a:r>
            <a:r>
              <a:rPr lang="en-US" dirty="0" err="1"/>
              <a:t>maculans</a:t>
            </a:r>
            <a:r>
              <a:rPr lang="en-US" dirty="0"/>
              <a:t>&gt;, some fungi work around this PAMP), but can confirm homozygosity</a:t>
            </a:r>
          </a:p>
          <a:p>
            <a:r>
              <a:rPr lang="en-US" dirty="0"/>
              <a:t>Genetic uniformity dangerous</a:t>
            </a:r>
          </a:p>
          <a:p>
            <a:r>
              <a:rPr lang="en-US" dirty="0"/>
              <a:t>Explain axes of PCA</a:t>
            </a:r>
          </a:p>
          <a:p>
            <a:pPr lvl="1"/>
            <a:r>
              <a:rPr lang="en-US" dirty="0"/>
              <a:t>Highlight our selections and why</a:t>
            </a:r>
          </a:p>
          <a:p>
            <a:pPr lvl="1"/>
            <a:r>
              <a:rPr lang="en-US" dirty="0"/>
              <a:t>Why does that matter?</a:t>
            </a:r>
          </a:p>
        </p:txBody>
      </p:sp>
    </p:spTree>
    <p:extLst>
      <p:ext uri="{BB962C8B-B14F-4D97-AF65-F5344CB8AC3E}">
        <p14:creationId xmlns:p14="http://schemas.microsoft.com/office/powerpoint/2010/main" val="17066303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F969C-1EFA-8423-877D-286CA78AE588}"/>
              </a:ext>
            </a:extLst>
          </p:cNvPr>
          <p:cNvSpPr>
            <a:spLocks noGrp="1"/>
          </p:cNvSpPr>
          <p:nvPr>
            <p:ph type="title"/>
          </p:nvPr>
        </p:nvSpPr>
        <p:spPr/>
        <p:txBody>
          <a:bodyPr/>
          <a:lstStyle/>
          <a:p>
            <a:r>
              <a:rPr lang="en-US"/>
              <a:t>Methods Geno (cont'd.)</a:t>
            </a:r>
          </a:p>
        </p:txBody>
      </p:sp>
      <p:sp>
        <p:nvSpPr>
          <p:cNvPr id="3" name="Content Placeholder 2">
            <a:extLst>
              <a:ext uri="{FF2B5EF4-FFF2-40B4-BE49-F238E27FC236}">
                <a16:creationId xmlns:a16="http://schemas.microsoft.com/office/drawing/2014/main" id="{A6EB1793-AC5B-3B22-625C-7369DCB60C89}"/>
              </a:ext>
            </a:extLst>
          </p:cNvPr>
          <p:cNvSpPr>
            <a:spLocks noGrp="1"/>
          </p:cNvSpPr>
          <p:nvPr>
            <p:ph idx="1"/>
          </p:nvPr>
        </p:nvSpPr>
        <p:spPr/>
        <p:txBody>
          <a:bodyPr vert="horz" lIns="91440" tIns="45720" rIns="91440" bIns="45720" rtlCol="0" anchor="t">
            <a:normAutofit/>
          </a:bodyPr>
          <a:lstStyle/>
          <a:p>
            <a:r>
              <a:rPr lang="en-US"/>
              <a:t>Explain how these results let us confidently pick our 3 accessions of the 6</a:t>
            </a:r>
          </a:p>
          <a:p>
            <a:r>
              <a:rPr lang="en-US"/>
              <a:t>We saw that the observed hetero was higher</a:t>
            </a:r>
          </a:p>
          <a:p>
            <a:r>
              <a:rPr lang="en-US"/>
              <a:t>Maybe a table of performance vs alleles (</a:t>
            </a:r>
            <a:r>
              <a:rPr lang="en-US" err="1"/>
              <a:t>lmv</a:t>
            </a:r>
            <a:r>
              <a:rPr lang="en-US"/>
              <a:t>) vs PCA</a:t>
            </a:r>
          </a:p>
          <a:p>
            <a:endParaRPr lang="en-US"/>
          </a:p>
        </p:txBody>
      </p:sp>
    </p:spTree>
    <p:extLst>
      <p:ext uri="{BB962C8B-B14F-4D97-AF65-F5344CB8AC3E}">
        <p14:creationId xmlns:p14="http://schemas.microsoft.com/office/powerpoint/2010/main" val="2394154804"/>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893</Words>
  <Application>Microsoft Office PowerPoint</Application>
  <PresentationFormat>Breitbild</PresentationFormat>
  <Paragraphs>90</Paragraphs>
  <Slides>8</Slides>
  <Notes>5</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8</vt:i4>
      </vt:variant>
    </vt:vector>
  </HeadingPairs>
  <TitlesOfParts>
    <vt:vector size="12" baseType="lpstr">
      <vt:lpstr>Aptos</vt:lpstr>
      <vt:lpstr>Aptos Display</vt:lpstr>
      <vt:lpstr>Arial</vt:lpstr>
      <vt:lpstr>Office</vt:lpstr>
      <vt:lpstr>MK130 – Genetics of Crop Diversity  Phenotypic and genotypic evaluation of B. napus accessions</vt:lpstr>
      <vt:lpstr>Goal of the project</vt:lpstr>
      <vt:lpstr>Phenotypical evaluation: Traits</vt:lpstr>
      <vt:lpstr>What are BLUPs and EBLUPs?</vt:lpstr>
      <vt:lpstr>Phenotypical evaluation: Pipeline</vt:lpstr>
      <vt:lpstr>Phenotypic evaluation: Results</vt:lpstr>
      <vt:lpstr>Methods Geno</vt:lpstr>
      <vt:lpstr>Methods Geno (cont'd.)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Alisa Anjulie Röring</dc:creator>
  <cp:lastModifiedBy>Alisa Anjulie Röring</cp:lastModifiedBy>
  <cp:revision>1</cp:revision>
  <dcterms:created xsi:type="dcterms:W3CDTF">2025-12-09T10:40:46Z</dcterms:created>
  <dcterms:modified xsi:type="dcterms:W3CDTF">2025-12-09T15:45:25Z</dcterms:modified>
</cp:coreProperties>
</file>